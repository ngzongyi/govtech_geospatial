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1675"/>
  <p:notesSz cx="6858000" cy="9144000"/>
  <p:embeddedFontLst>
    <p:embeddedFont>
      <p:font typeface="Quattrocen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gaIb4nU9sqMvopXM+eVctKx3ae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E2463D-70BA-41CF-ACB0-3614A81A2369}">
  <a:tblStyle styleId="{81E2463D-70BA-41CF-ACB0-3614A81A236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11" Type="http://schemas.openxmlformats.org/officeDocument/2006/relationships/slide" Target="slides/slide5.xml"/><Relationship Id="rId22" Type="http://schemas.openxmlformats.org/officeDocument/2006/relationships/font" Target="fonts/QuattrocentoSans-italic.fntdata"/><Relationship Id="rId10" Type="http://schemas.openxmlformats.org/officeDocument/2006/relationships/slide" Target="slides/slide4.xml"/><Relationship Id="rId21" Type="http://schemas.openxmlformats.org/officeDocument/2006/relationships/font" Target="fonts/QuattrocentoSans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5ae19e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55ae19e9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5ae19e9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55ae19e93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55ae19e9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55ae19e93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5ae19e93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55ae19e93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5ae19e93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55ae19e93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5ae19e9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55ae19e93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5ae19e93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55ae19e93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5ae19e93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55ae19e93_0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5ae19e93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55ae19e93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5ae19e93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55ae19e93_0_2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55ae19e93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55ae19e93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5ae19e9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55ae19e93_0_3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55ae19e93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55ae19e93_0_3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55ae19e93_0_3"/>
          <p:cNvSpPr txBox="1"/>
          <p:nvPr/>
        </p:nvSpPr>
        <p:spPr>
          <a:xfrm>
            <a:off x="822960" y="2514600"/>
            <a:ext cx="10515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</a:rPr>
              <a:t>Section 1 - Question 2 - COE Price Prediction Model</a:t>
            </a:r>
            <a:endParaRPr/>
          </a:p>
        </p:txBody>
      </p:sp>
      <p:sp>
        <p:nvSpPr>
          <p:cNvPr id="85" name="Google Shape;85;g3f55ae19e93_0_3"/>
          <p:cNvSpPr txBox="1"/>
          <p:nvPr/>
        </p:nvSpPr>
        <p:spPr>
          <a:xfrm>
            <a:off x="822960" y="603504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55ae19e93_0_83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FRAMING THE QUESTION</a:t>
            </a:r>
            <a:endParaRPr/>
          </a:p>
        </p:txBody>
      </p:sp>
      <p:sp>
        <p:nvSpPr>
          <p:cNvPr id="91" name="Google Shape;91;g3f55ae19e93_0_83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Objectives</a:t>
            </a:r>
            <a:endParaRPr/>
          </a:p>
        </p:txBody>
      </p:sp>
      <p:sp>
        <p:nvSpPr>
          <p:cNvPr id="92" name="Google Shape;92;g3f55ae19e93_0_83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sp>
        <p:nvSpPr>
          <p:cNvPr id="93" name="Google Shape;93;g3f55ae19e93_0_83"/>
          <p:cNvSpPr txBox="1"/>
          <p:nvPr/>
        </p:nvSpPr>
        <p:spPr>
          <a:xfrm>
            <a:off x="955800" y="1801300"/>
            <a:ext cx="9360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Evaluate whether future Category A and B COE prices can be accurately predicted</a:t>
            </a:r>
            <a:r>
              <a:rPr lang="en-US" sz="1700">
                <a:solidFill>
                  <a:schemeClr val="dk1"/>
                </a:solidFill>
              </a:rPr>
              <a:t> using only information available before each bidding exercise.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Quantify the independent impact of COE quota on prices</a:t>
            </a:r>
            <a:r>
              <a:rPr lang="en-US" sz="1700">
                <a:solidFill>
                  <a:schemeClr val="dk1"/>
                </a:solidFill>
              </a:rPr>
              <a:t>, after controlling for other market and economic factors.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Estimate the price sensitivity to quota changes</a:t>
            </a:r>
            <a:r>
              <a:rPr lang="en-US" sz="1700">
                <a:solidFill>
                  <a:schemeClr val="dk1"/>
                </a:solidFill>
              </a:rPr>
              <a:t>, providing actionable estimates (e.g. the impact of an additional 100 COEs) for policy planning.</a:t>
            </a:r>
            <a:endParaRPr sz="1700">
              <a:solidFill>
                <a:schemeClr val="dk1"/>
              </a:solidFill>
            </a:endParaRPr>
          </a:p>
        </p:txBody>
      </p:sp>
      <p:cxnSp>
        <p:nvCxnSpPr>
          <p:cNvPr id="94" name="Google Shape;94;g3f55ae19e93_0_83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5ae19e93_0_192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FRAMING THE QUESTION</a:t>
            </a:r>
            <a:endParaRPr/>
          </a:p>
        </p:txBody>
      </p:sp>
      <p:sp>
        <p:nvSpPr>
          <p:cNvPr id="100" name="Google Shape;100;g3f55ae19e93_0_192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Exploratory</a:t>
            </a:r>
            <a:endParaRPr/>
          </a:p>
        </p:txBody>
      </p:sp>
      <p:cxnSp>
        <p:nvCxnSpPr>
          <p:cNvPr id="101" name="Google Shape;101;g3f55ae19e93_0_192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02" name="Google Shape;102;g3f55ae19e93_0_192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pic>
        <p:nvPicPr>
          <p:cNvPr id="103" name="Google Shape;103;g3f55ae19e93_0_192" title="01_long_run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49" y="1830999"/>
            <a:ext cx="7964949" cy="398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55ae19e93_0_192"/>
          <p:cNvSpPr txBox="1"/>
          <p:nvPr/>
        </p:nvSpPr>
        <p:spPr>
          <a:xfrm>
            <a:off x="8273800" y="1666150"/>
            <a:ext cx="37689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Key Milestones in Singapore's COE Market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2008–2009 (Global Financial Crisis): Demand collapsed while quota increased from expiring COEs, driving Category A prices to a low of S$2.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2010–2013: Progressive reductions in the Vehicle Growth Rate (3% → 0.5%) tightened COE supply, resulting in a sharp rise in prices.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2014–2019: A surge in COE expiries expanded quota, leading to a sustained six-year decline in COE prices.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2022–Present: Strong post-COVID demand combined with lower COE supply pushed prices to record highs, with Category B reaching S$150,001 (Oct 2023) and new records continuing into 2025–2026.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5ae19e93_0_183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FRAMING THE QUESTION</a:t>
            </a:r>
            <a:endParaRPr/>
          </a:p>
        </p:txBody>
      </p:sp>
      <p:sp>
        <p:nvSpPr>
          <p:cNvPr id="110" name="Google Shape;110;g3f55ae19e93_0_183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Exploratory</a:t>
            </a:r>
            <a:endParaRPr/>
          </a:p>
        </p:txBody>
      </p:sp>
      <p:cxnSp>
        <p:nvCxnSpPr>
          <p:cNvPr id="111" name="Google Shape;111;g3f55ae19e93_0_183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12" name="Google Shape;112;g3f55ae19e93_0_183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pic>
        <p:nvPicPr>
          <p:cNvPr id="113" name="Google Shape;113;g3f55ae19e93_0_183" title="02_all_categories_cross_s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248" y="1488775"/>
            <a:ext cx="8611176" cy="282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f55ae19e93_0_183"/>
          <p:cNvSpPr txBox="1"/>
          <p:nvPr/>
        </p:nvSpPr>
        <p:spPr>
          <a:xfrm>
            <a:off x="216850" y="4354450"/>
            <a:ext cx="118857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COE categories exhibit distinct market dynamics—price, quota size, and demand pressure do not move together.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Category A has the largest quota, Category C has the smallest quota despite only mid-range prices and consistently high demand pressure.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Category D is the only category where low prices align with low demand pressure, suggesting different demand behaviour across categories.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These differences justify modelling each COE category separately, rather than applying a single model across all categories.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55ae19e93_0_206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FRAMING THE QUESTION</a:t>
            </a:r>
            <a:endParaRPr/>
          </a:p>
        </p:txBody>
      </p:sp>
      <p:sp>
        <p:nvSpPr>
          <p:cNvPr id="120" name="Google Shape;120;g3f55ae19e93_0_206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Exploratory</a:t>
            </a:r>
            <a:endParaRPr/>
          </a:p>
        </p:txBody>
      </p:sp>
      <p:cxnSp>
        <p:nvCxnSpPr>
          <p:cNvPr id="121" name="Google Shape;121;g3f55ae19e93_0_206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22" name="Google Shape;122;g3f55ae19e93_0_206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pic>
        <p:nvPicPr>
          <p:cNvPr id="123" name="Google Shape;123;g3f55ae19e93_0_206" title="05_quota_vs_premium_by_era.png"/>
          <p:cNvPicPr preferRelativeResize="0"/>
          <p:nvPr/>
        </p:nvPicPr>
        <p:blipFill rotWithShape="1">
          <a:blip r:embed="rId3">
            <a:alphaModFix/>
          </a:blip>
          <a:srcRect b="0" l="0" r="0" t="3428"/>
          <a:stretch/>
        </p:blipFill>
        <p:spPr>
          <a:xfrm>
            <a:off x="157125" y="1849825"/>
            <a:ext cx="7706724" cy="310076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f55ae19e93_0_206"/>
          <p:cNvSpPr txBox="1"/>
          <p:nvPr/>
        </p:nvSpPr>
        <p:spPr>
          <a:xfrm>
            <a:off x="8040200" y="1678650"/>
            <a:ext cx="3829200" cy="3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The quota–price relationship differs across policy periods, rather than following a single consistent trend.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Within each policy era, higher quotas are associated with lower COE prices, as expected.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Differences between policy eras are much larger than variations within an era, meaning historical shifts can mask the true impact of quota.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This motivates controlling for policy era (or year) in the regression model to isolate the true effect of quota on COE prices.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5ae19e93_0_219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FRAMING THE QUESTION</a:t>
            </a:r>
            <a:endParaRPr/>
          </a:p>
        </p:txBody>
      </p:sp>
      <p:sp>
        <p:nvSpPr>
          <p:cNvPr id="130" name="Google Shape;130;g3f55ae19e93_0_219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Exploratory</a:t>
            </a:r>
            <a:endParaRPr/>
          </a:p>
        </p:txBody>
      </p:sp>
      <p:cxnSp>
        <p:nvCxnSpPr>
          <p:cNvPr id="131" name="Google Shape;131;g3f55ae19e93_0_219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32" name="Google Shape;132;g3f55ae19e93_0_219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pic>
        <p:nvPicPr>
          <p:cNvPr id="133" name="Google Shape;133;g3f55ae19e93_0_219" title="05_quota_vs_premium_by_era.png"/>
          <p:cNvPicPr preferRelativeResize="0"/>
          <p:nvPr/>
        </p:nvPicPr>
        <p:blipFill rotWithShape="1">
          <a:blip r:embed="rId3">
            <a:alphaModFix/>
          </a:blip>
          <a:srcRect b="0" l="0" r="0" t="3428"/>
          <a:stretch/>
        </p:blipFill>
        <p:spPr>
          <a:xfrm>
            <a:off x="157125" y="1849825"/>
            <a:ext cx="7706724" cy="310076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f55ae19e93_0_219"/>
          <p:cNvSpPr txBox="1"/>
          <p:nvPr/>
        </p:nvSpPr>
        <p:spPr>
          <a:xfrm>
            <a:off x="8040200" y="1678650"/>
            <a:ext cx="3829200" cy="3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The quota–price relationship differs across policy periods, rather than following a single consistent trend.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Within each policy era, higher quotas are associated with lower COE prices, as expected.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Differences between policy eras are much larger than variations within an era, meaning historical shifts can mask the true impact of quota.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This motivates controlling for policy era (or year) in the regression model to isolate the true effect of quota on COE prices.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55ae19e93_0_228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FRAMING THE QUESTION</a:t>
            </a:r>
            <a:endParaRPr/>
          </a:p>
        </p:txBody>
      </p:sp>
      <p:sp>
        <p:nvSpPr>
          <p:cNvPr id="140" name="Google Shape;140;g3f55ae19e93_0_228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Exploratory</a:t>
            </a:r>
            <a:endParaRPr/>
          </a:p>
        </p:txBody>
      </p:sp>
      <p:cxnSp>
        <p:nvCxnSpPr>
          <p:cNvPr id="141" name="Google Shape;141;g3f55ae19e93_0_228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42" name="Google Shape;142;g3f55ae19e93_0_228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pic>
        <p:nvPicPr>
          <p:cNvPr id="143" name="Google Shape;143;g3f55ae19e93_0_228" title="08_seasonality_and_round_eff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025" y="1401575"/>
            <a:ext cx="9951635" cy="356598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f55ae19e93_0_228"/>
          <p:cNvSpPr txBox="1"/>
          <p:nvPr/>
        </p:nvSpPr>
        <p:spPr>
          <a:xfrm>
            <a:off x="1025950" y="4874675"/>
            <a:ext cx="10137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Left</a:t>
            </a:r>
            <a:r>
              <a:rPr lang="en-US" sz="1300">
                <a:solidFill>
                  <a:schemeClr val="dk1"/>
                </a:solidFill>
              </a:rPr>
              <a:t>: </a:t>
            </a:r>
            <a:r>
              <a:rPr lang="en-US" sz="1300">
                <a:solidFill>
                  <a:schemeClr val="dk1"/>
                </a:solidFill>
              </a:rPr>
              <a:t>COE prices exhibit consistent seasonal patterns, with prices typically 4–9% below the annual average in Jan–Mar and 2–6% above in Sep–Dec.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Right</a:t>
            </a:r>
            <a:r>
              <a:rPr lang="en-US" sz="1300">
                <a:solidFill>
                  <a:schemeClr val="dk1"/>
                </a:solidFill>
              </a:rPr>
              <a:t>: </a:t>
            </a:r>
            <a:r>
              <a:rPr lang="en-US" sz="1300">
                <a:solidFill>
                  <a:schemeClr val="dk1"/>
                </a:solidFill>
              </a:rPr>
              <a:t>The second bidding exercise each month consistently clears at slightly higher prices than the first (+0.9% for Category A, +1.6% for Category B).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Both seasonal and bidding-round effects are included as control variables to isolate the true impact of quota on COE prices.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5ae19e93_0_241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FRAMING THE QUESTION</a:t>
            </a:r>
            <a:endParaRPr/>
          </a:p>
        </p:txBody>
      </p:sp>
      <p:sp>
        <p:nvSpPr>
          <p:cNvPr id="150" name="Google Shape;150;g3f55ae19e93_0_241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Exploratory</a:t>
            </a:r>
            <a:endParaRPr/>
          </a:p>
        </p:txBody>
      </p:sp>
      <p:cxnSp>
        <p:nvCxnSpPr>
          <p:cNvPr id="151" name="Google Shape;151;g3f55ae19e93_0_241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52" name="Google Shape;152;g3f55ae19e93_0_241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sp>
        <p:nvSpPr>
          <p:cNvPr id="153" name="Google Shape;153;g3f55ae19e93_0_241"/>
          <p:cNvSpPr txBox="1"/>
          <p:nvPr/>
        </p:nvSpPr>
        <p:spPr>
          <a:xfrm>
            <a:off x="573500" y="1475550"/>
            <a:ext cx="1106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Nominal vs. real: how much of the "record high" is just inflation?</a:t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154" name="Google Shape;154;g3f55ae19e93_0_2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700" y="1827625"/>
            <a:ext cx="8108850" cy="33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f55ae19e93_0_241"/>
          <p:cNvSpPr txBox="1"/>
          <p:nvPr/>
        </p:nvSpPr>
        <p:spPr>
          <a:xfrm>
            <a:off x="716875" y="5472150"/>
            <a:ext cx="1029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COE prices have increased substantially in real terms, not just because of inflation.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Since 2010, Category A prices rose +280% nominal (+180% real) and Category B +200% nominal (+120% real), with roughly two-thirds of the increase reflecting genuine market effects.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Adjusting for inflation has little impact on the quota elasticity estimates, as the regression model already controls for year-specific effects.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5ae19e93_0_271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166AC"/>
                </a:solidFill>
              </a:rPr>
              <a:t>MODELLING</a:t>
            </a:r>
            <a:endParaRPr/>
          </a:p>
        </p:txBody>
      </p:sp>
      <p:sp>
        <p:nvSpPr>
          <p:cNvPr id="161" name="Google Shape;161;g3f55ae19e93_0_271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rgbClr val="222222"/>
                </a:solidFill>
              </a:rPr>
              <a:t>Explanatory Modelling </a:t>
            </a:r>
            <a:endParaRPr/>
          </a:p>
        </p:txBody>
      </p:sp>
      <p:cxnSp>
        <p:nvCxnSpPr>
          <p:cNvPr id="162" name="Google Shape;162;g3f55ae19e93_0_271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63" name="Google Shape;163;g3f55ae19e93_0_271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sp>
        <p:nvSpPr>
          <p:cNvPr id="164" name="Google Shape;164;g3f55ae19e93_0_271"/>
          <p:cNvSpPr txBox="1"/>
          <p:nvPr/>
        </p:nvSpPr>
        <p:spPr>
          <a:xfrm>
            <a:off x="548650" y="1523050"/>
            <a:ext cx="10920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Estimating COE Quota Elasticity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Objective</a:t>
            </a:r>
            <a:r>
              <a:rPr lang="en-US" sz="1600">
                <a:solidFill>
                  <a:schemeClr val="dk1"/>
                </a:solidFill>
              </a:rPr>
              <a:t>: Quantify how a 1% change in COE quota affects COE prices, while holding demand and other factors constant.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Method</a:t>
            </a:r>
            <a:r>
              <a:rPr lang="en-US" sz="1600">
                <a:solidFill>
                  <a:schemeClr val="dk1"/>
                </a:solidFill>
              </a:rPr>
              <a:t>: A log-log regression is used so the coefficient directly represents the price elasticity of quota.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Model development</a:t>
            </a:r>
            <a:r>
              <a:rPr lang="en-US" sz="1600">
                <a:solidFill>
                  <a:schemeClr val="dk1"/>
                </a:solidFill>
              </a:rPr>
              <a:t>: Four progressively richer models are built by adding controls for demand (Bid-to-Quota ratio), year effects, seasonality (quarter), and bidding round.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Robust estimation</a:t>
            </a:r>
            <a:r>
              <a:rPr lang="en-US" sz="1600">
                <a:solidFill>
                  <a:schemeClr val="dk1"/>
                </a:solidFill>
              </a:rPr>
              <a:t>: Newey–West (HAC) standard errors are used to account for correlation between consecutive bidding exercises, providing more reliable statistical inference.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55ae19e93_0_258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166AC"/>
                </a:solidFill>
              </a:rPr>
              <a:t>MODELLING</a:t>
            </a:r>
            <a:endParaRPr/>
          </a:p>
        </p:txBody>
      </p:sp>
      <p:sp>
        <p:nvSpPr>
          <p:cNvPr id="170" name="Google Shape;170;g3f55ae19e93_0_258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Explanatory Modelling </a:t>
            </a:r>
            <a:endParaRPr b="1" sz="2800">
              <a:solidFill>
                <a:srgbClr val="222222"/>
              </a:solidFill>
            </a:endParaRPr>
          </a:p>
        </p:txBody>
      </p:sp>
      <p:cxnSp>
        <p:nvCxnSpPr>
          <p:cNvPr id="171" name="Google Shape;171;g3f55ae19e93_0_258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72" name="Google Shape;172;g3f55ae19e93_0_258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graphicFrame>
        <p:nvGraphicFramePr>
          <p:cNvPr id="173" name="Google Shape;173;g3f55ae19e93_0_258"/>
          <p:cNvGraphicFramePr/>
          <p:nvPr/>
        </p:nvGraphicFramePr>
        <p:xfrm>
          <a:off x="45720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{81E2463D-70BA-41CF-ACB0-3614A81A2369}</a:tableStyleId>
              </a:tblPr>
              <a:tblGrid>
                <a:gridCol w="4297675"/>
                <a:gridCol w="1737350"/>
                <a:gridCol w="1737350"/>
                <a:gridCol w="1737350"/>
                <a:gridCol w="1737350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Model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elasticity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R²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elasticity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R²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M1  plain (ln_premium ~ ln_quota)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-0.251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0.10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-0.461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0.25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M2  + demand signal (ln_btq)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-0.235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0.10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-0.463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0.25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M3  + year control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-0.313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0.94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-0.432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0.93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M4  final (+ quarter, round)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-0.310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0.95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-0.436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0.94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g3f55ae19e93_0_258"/>
          <p:cNvSpPr txBox="1"/>
          <p:nvPr/>
        </p:nvSpPr>
        <p:spPr>
          <a:xfrm>
            <a:off x="875375" y="4516225"/>
            <a:ext cx="9984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A naive regression (M1) performs poorly, explaining only 10% (Category A) and 25% (Category B) of price variation due to multi-year market cycles.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Adding year controls (M3) captures these market-wide effects, increasing model fit dramatically to 93–95% R² for both categories.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The corrected model also removes bias in the elasticity estimate, with a substantial adjustment for Category A and only a minor change for Category B.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55ae19e93_0_286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166AC"/>
                </a:solidFill>
              </a:rPr>
              <a:t>MODELLING</a:t>
            </a:r>
            <a:endParaRPr/>
          </a:p>
        </p:txBody>
      </p:sp>
      <p:sp>
        <p:nvSpPr>
          <p:cNvPr id="180" name="Google Shape;180;g3f55ae19e93_0_286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Explanatory Modelling </a:t>
            </a:r>
            <a:endParaRPr b="1" sz="2800">
              <a:solidFill>
                <a:srgbClr val="222222"/>
              </a:solidFill>
            </a:endParaRPr>
          </a:p>
        </p:txBody>
      </p:sp>
      <p:cxnSp>
        <p:nvCxnSpPr>
          <p:cNvPr id="181" name="Google Shape;181;g3f55ae19e93_0_286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82" name="Google Shape;182;g3f55ae19e93_0_286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graphicFrame>
        <p:nvGraphicFramePr>
          <p:cNvPr id="183" name="Google Shape;183;g3f55ae19e93_0_286"/>
          <p:cNvGraphicFramePr/>
          <p:nvPr/>
        </p:nvGraphicFramePr>
        <p:xfrm>
          <a:off x="2204475" y="160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{81E2463D-70BA-41CF-ACB0-3614A81A2369}</a:tableStyleId>
              </a:tblPr>
              <a:tblGrid>
                <a:gridCol w="1667725"/>
                <a:gridCol w="1223000"/>
                <a:gridCol w="1778925"/>
                <a:gridCol w="1000625"/>
                <a:gridCol w="1000625"/>
                <a:gridCol w="1111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Elasticity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95% CI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p-value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R²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A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-0.310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[-0.40, -0.22]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&lt;0.001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0.945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391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B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-0.436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[-0.61, -0.26]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&lt;0.001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0.937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391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4" name="Google Shape;184;g3f55ae19e93_0_286"/>
          <p:cNvGraphicFramePr/>
          <p:nvPr/>
        </p:nvGraphicFramePr>
        <p:xfrm>
          <a:off x="2204480" y="3557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{81E2463D-70BA-41CF-ACB0-3614A81A2369}</a:tableStyleId>
              </a:tblPr>
              <a:tblGrid>
                <a:gridCol w="3189625"/>
                <a:gridCol w="45931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Robustness check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Result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Differencing (∆ instead of levels)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-0.12 (A) / -0.20 (B) -- same sign, significant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Real vs. nominal (CPI-deflated)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-0.30 vs -0.31 (A), -0.41 vs -0.44 (B) -- barely moves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interaction test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 is +0.11 steeper than A (p=0.003) -- real difference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Cross-category spillover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Not significant (p=0.80 / 0.18) -- treat as separate levers</a:t>
                      </a:r>
                      <a:endParaRPr/>
                    </a:p>
                  </a:txBody>
                  <a:tcPr marT="36575" marB="365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55ae19e93_0_306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166AC"/>
                </a:solidFill>
              </a:rPr>
              <a:t>MODELLING</a:t>
            </a:r>
            <a:endParaRPr/>
          </a:p>
        </p:txBody>
      </p:sp>
      <p:sp>
        <p:nvSpPr>
          <p:cNvPr id="190" name="Google Shape;190;g3f55ae19e93_0_306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Explanatory Modelling </a:t>
            </a:r>
            <a:endParaRPr b="1" sz="2800">
              <a:solidFill>
                <a:srgbClr val="222222"/>
              </a:solidFill>
            </a:endParaRPr>
          </a:p>
        </p:txBody>
      </p:sp>
      <p:cxnSp>
        <p:nvCxnSpPr>
          <p:cNvPr id="191" name="Google Shape;191;g3f55ae19e93_0_306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92" name="Google Shape;192;g3f55ae19e93_0_306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graphicFrame>
        <p:nvGraphicFramePr>
          <p:cNvPr id="193" name="Google Shape;193;g3f55ae19e93_0_306"/>
          <p:cNvGraphicFramePr/>
          <p:nvPr/>
        </p:nvGraphicFramePr>
        <p:xfrm>
          <a:off x="45720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{81E2463D-70BA-41CF-ACB0-3614A81A2369}</a:tableStyleId>
              </a:tblPr>
              <a:tblGrid>
                <a:gridCol w="2743200"/>
                <a:gridCol w="777250"/>
                <a:gridCol w="777250"/>
                <a:gridCol w="777250"/>
                <a:gridCol w="685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Model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RMSE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MAPE %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R²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0B0B0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1. Naive (last round)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4,036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5,294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3.61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0.800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2. PQP as predictor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3,987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5,257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3.55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0.803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FF4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 Gradient Boosting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4,868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6,146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4.28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0.730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4. Hybrid (persistence + elasticity)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4,203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5,429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3.75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0.789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13_gbm_feature_importance.png" id="194" name="Google Shape;194;g3f55ae19e93_0_3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701" y="3873075"/>
            <a:ext cx="4079926" cy="25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f55ae19e93_0_306"/>
          <p:cNvSpPr txBox="1"/>
          <p:nvPr/>
        </p:nvSpPr>
        <p:spPr>
          <a:xfrm>
            <a:off x="6657250" y="1636625"/>
            <a:ext cx="52692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Simple baselines (e.g. last round's price or PQP) outperform more complex machine learning models for short-term COE price forecasting.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COE prices behave similarly to a random walk, making future prices inherently difficult to predict beyond recent market prices.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Quota has limited value for next-round prediction once recent prices are known, but it remains a significant driver of the overall COE price level.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Recommendation: Use PQP/last round's price for operational forecasting, and the elasticity model for evaluating the impact of quota policy changes.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55ae19e93_0_321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166AC"/>
                </a:solidFill>
              </a:rPr>
              <a:t>MODELLING</a:t>
            </a:r>
            <a:endParaRPr/>
          </a:p>
        </p:txBody>
      </p:sp>
      <p:sp>
        <p:nvSpPr>
          <p:cNvPr id="201" name="Google Shape;201;g3f55ae19e93_0_321"/>
          <p:cNvSpPr txBox="1"/>
          <p:nvPr/>
        </p:nvSpPr>
        <p:spPr>
          <a:xfrm>
            <a:off x="548640" y="62179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2222"/>
                </a:solidFill>
              </a:rPr>
              <a:t>Back testing</a:t>
            </a:r>
            <a:endParaRPr b="1" sz="2800">
              <a:solidFill>
                <a:srgbClr val="222222"/>
              </a:solidFill>
            </a:endParaRPr>
          </a:p>
        </p:txBody>
      </p:sp>
      <p:cxnSp>
        <p:nvCxnSpPr>
          <p:cNvPr id="202" name="Google Shape;202;g3f55ae19e93_0_321"/>
          <p:cNvCxnSpPr/>
          <p:nvPr/>
        </p:nvCxnSpPr>
        <p:spPr>
          <a:xfrm>
            <a:off x="548640" y="1291322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C7CCD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03" name="Google Shape;203;g3f55ae19e93_0_321"/>
          <p:cNvSpPr txBox="1"/>
          <p:nvPr/>
        </p:nvSpPr>
        <p:spPr>
          <a:xfrm>
            <a:off x="157135" y="649944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F9BB5"/>
                </a:solidFill>
              </a:rPr>
              <a:t>Candidate Ng Zong Yi</a:t>
            </a:r>
            <a:r>
              <a:rPr b="0" i="1" lang="en-US" sz="1200" u="none" cap="none" strike="noStrike">
                <a:solidFill>
                  <a:srgbClr val="8F9BB5"/>
                </a:solidFill>
                <a:latin typeface="Arial"/>
                <a:ea typeface="Arial"/>
                <a:cs typeface="Arial"/>
                <a:sym typeface="Arial"/>
              </a:rPr>
              <a:t> ·  </a:t>
            </a:r>
            <a:r>
              <a:rPr i="1" lang="en-US" sz="1200">
                <a:solidFill>
                  <a:srgbClr val="8F9BB5"/>
                </a:solidFill>
              </a:rPr>
              <a:t>ngzongyi@gmail.com</a:t>
            </a:r>
            <a:endParaRPr i="1"/>
          </a:p>
        </p:txBody>
      </p:sp>
      <p:graphicFrame>
        <p:nvGraphicFramePr>
          <p:cNvPr id="204" name="Google Shape;204;g3f55ae19e93_0_321"/>
          <p:cNvGraphicFramePr/>
          <p:nvPr/>
        </p:nvGraphicFramePr>
        <p:xfrm>
          <a:off x="1781075" y="19118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{81E2463D-70BA-41CF-ACB0-3614A81A2369}</a:tableStyleId>
              </a:tblPr>
              <a:tblGrid>
                <a:gridCol w="1828800"/>
                <a:gridCol w="2103125"/>
                <a:gridCol w="2377450"/>
                <a:gridCol w="1920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Quota change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Model-implied price change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Actual price change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A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+11.1%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-3.2%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-3.5%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B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+5.9%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-2.5%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-1.1%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g3f55ae19e93_0_321"/>
          <p:cNvSpPr txBox="1"/>
          <p:nvPr/>
        </p:nvSpPr>
        <p:spPr>
          <a:xfrm>
            <a:off x="579450" y="1392350"/>
            <a:ext cx="106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To validate the elasticity model, we compared its predictions against a real quota increase introduced by LTA in </a:t>
            </a:r>
            <a:r>
              <a:rPr b="1" lang="en-US">
                <a:solidFill>
                  <a:schemeClr val="dk1"/>
                </a:solidFill>
              </a:rPr>
              <a:t>May 2023</a:t>
            </a:r>
            <a:r>
              <a:rPr b="1" lang="en-US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06" name="Google Shape;206;g3f55ae19e93_0_321"/>
          <p:cNvSpPr txBox="1"/>
          <p:nvPr/>
        </p:nvSpPr>
        <p:spPr>
          <a:xfrm>
            <a:off x="548650" y="3392200"/>
            <a:ext cx="113745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Category A</a:t>
            </a:r>
            <a:r>
              <a:rPr lang="en-US">
                <a:solidFill>
                  <a:schemeClr val="dk1"/>
                </a:solidFill>
              </a:rPr>
              <a:t>: The model closely matched reality. An 11.1% quota increase was predicted to reduce prices by 3.2%, while the actual price fell by 3.5%, showing excellent agreement in both direction and magnitude.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Category B</a:t>
            </a:r>
            <a:r>
              <a:rPr lang="en-US">
                <a:solidFill>
                  <a:schemeClr val="dk1"/>
                </a:solidFill>
              </a:rPr>
              <a:t>: The model correctly predicted a price decline following a 5.9% quota increase, although the actual drop (1.1%) was smaller than the predicted 2.5% due to stronger demand, reflected by the higher bid-to-quota ratio (1.30 → 1.38).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Overall</a:t>
            </a:r>
            <a:r>
              <a:rPr lang="en-US">
                <a:solidFill>
                  <a:schemeClr val="dk1"/>
                </a:solidFill>
              </a:rPr>
              <a:t>: The model reliably captures the direction and approximate magnitude of quota-driven price changes. Differences from actual outcomes are largely explained by concurrent changes in demand, making it best suited as a policy decision-support tool rather than an exact price forecasting model.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