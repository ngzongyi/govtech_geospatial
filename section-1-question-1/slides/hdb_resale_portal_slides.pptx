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iEvpJymMyCP9s2mlhAxL6bZCra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6E7FD8-9526-491F-8C27-FF481154938D}">
  <a:tblStyle styleId="{696E7FD8-9526-491F-8C27-FF481154938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5596b38c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f5596b38c6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5596b38c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f5596b38c6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5596b38c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f5596b38c6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5596b38c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f5596b38c6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5596b38c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f5596b38c6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5596b38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f5596b38c6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596b38c6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f5596b38c6_3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B2E"/>
        </a:solidFill>
      </p:bgPr>
    </p:bg>
    <p:spTree>
      <p:nvGrpSpPr>
        <p:cNvPr id="83" name="Shape 83"/>
        <p:cNvGrpSpPr/>
        <p:nvPr/>
      </p:nvGrpSpPr>
      <p:grpSpPr>
        <a:xfrm>
          <a:off x="0" y="0"/>
          <a:ext cx="0" cy="0"/>
          <a:chOff x="0" y="0"/>
          <a:chExt cx="0" cy="0"/>
        </a:xfrm>
      </p:grpSpPr>
      <p:sp>
        <p:nvSpPr>
          <p:cNvPr id="84" name="Google Shape;84;p1"/>
          <p:cNvSpPr txBox="1"/>
          <p:nvPr/>
        </p:nvSpPr>
        <p:spPr>
          <a:xfrm>
            <a:off x="822960" y="2514600"/>
            <a:ext cx="10515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None/>
            </a:pPr>
            <a:r>
              <a:rPr b="1" lang="en-US" sz="4000">
                <a:solidFill>
                  <a:srgbClr val="FFFFFF"/>
                </a:solidFill>
              </a:rPr>
              <a:t>Section 1 - Question 1 - HDB </a:t>
            </a:r>
            <a:r>
              <a:rPr b="1" i="0" lang="en-US" sz="4000" u="none" cap="none" strike="noStrike">
                <a:solidFill>
                  <a:srgbClr val="FFFFFF"/>
                </a:solidFill>
                <a:latin typeface="Arial"/>
                <a:ea typeface="Arial"/>
                <a:cs typeface="Arial"/>
                <a:sym typeface="Arial"/>
              </a:rPr>
              <a:t>Resale Portal </a:t>
            </a:r>
            <a:endParaRPr/>
          </a:p>
        </p:txBody>
      </p:sp>
      <p:sp>
        <p:nvSpPr>
          <p:cNvPr id="85" name="Google Shape;85;p1"/>
          <p:cNvSpPr txBox="1"/>
          <p:nvPr/>
        </p:nvSpPr>
        <p:spPr>
          <a:xfrm>
            <a:off x="822960" y="603504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2"/>
          <p:cNvSpPr txBox="1"/>
          <p:nvPr/>
        </p:nvSpPr>
        <p:spPr>
          <a:xfrm>
            <a:off x="548640" y="320040"/>
            <a:ext cx="7315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2166AC"/>
                </a:solidFill>
                <a:latin typeface="Arial"/>
                <a:ea typeface="Arial"/>
                <a:cs typeface="Arial"/>
                <a:sym typeface="Arial"/>
              </a:rPr>
              <a:t>FRAMING THE QUESTION</a:t>
            </a:r>
            <a:endParaRPr/>
          </a:p>
        </p:txBody>
      </p:sp>
      <p:sp>
        <p:nvSpPr>
          <p:cNvPr id="91" name="Google Shape;91;p2"/>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Quantify the impact of the HDB Resale Portal</a:t>
            </a:r>
            <a:endParaRPr/>
          </a:p>
        </p:txBody>
      </p:sp>
      <p:cxnSp>
        <p:nvCxnSpPr>
          <p:cNvPr id="92" name="Google Shape;92;p2"/>
          <p:cNvCxnSpPr/>
          <p:nvPr/>
        </p:nvCxnSpPr>
        <p:spPr>
          <a:xfrm>
            <a:off x="548640" y="1371600"/>
            <a:ext cx="11091672"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39"/>
              </a:srgbClr>
            </a:outerShdw>
          </a:effectLst>
        </p:spPr>
      </p:cxnSp>
      <p:sp>
        <p:nvSpPr>
          <p:cNvPr id="93" name="Google Shape;93;p2"/>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94" name="Google Shape;94;p2"/>
          <p:cNvSpPr txBox="1"/>
          <p:nvPr/>
        </p:nvSpPr>
        <p:spPr>
          <a:xfrm>
            <a:off x="548650" y="1388500"/>
            <a:ext cx="11492700" cy="478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Core Questions to address:</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AutoNum type="arabicPeriod"/>
            </a:pPr>
            <a:r>
              <a:rPr b="1" lang="en-US" sz="2300">
                <a:solidFill>
                  <a:schemeClr val="dk1"/>
                </a:solidFill>
                <a:latin typeface="Calibri"/>
                <a:ea typeface="Calibri"/>
                <a:cs typeface="Calibri"/>
                <a:sym typeface="Calibri"/>
              </a:rPr>
              <a:t>Is the HDB Resale Portal helpful?</a:t>
            </a:r>
            <a:endParaRPr b="1" sz="2300">
              <a:solidFill>
                <a:schemeClr val="dk1"/>
              </a:solidFill>
              <a:latin typeface="Calibri"/>
              <a:ea typeface="Calibri"/>
              <a:cs typeface="Calibri"/>
              <a:sym typeface="Calibri"/>
            </a:endParaRPr>
          </a:p>
          <a:p>
            <a:pPr indent="-374650" lvl="0" marL="9144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did people actually adopt agent-free transactions, has adoption grown over time, and has it helped the resale market move faster? </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AutoNum type="arabicPeriod"/>
            </a:pPr>
            <a:r>
              <a:rPr b="1" lang="en-US" sz="2300">
                <a:solidFill>
                  <a:schemeClr val="dk1"/>
                </a:solidFill>
                <a:latin typeface="Calibri"/>
                <a:ea typeface="Calibri"/>
                <a:cs typeface="Calibri"/>
                <a:sym typeface="Calibri"/>
              </a:rPr>
              <a:t>Does adoption vary across Singapore?</a:t>
            </a:r>
            <a:endParaRPr b="1" sz="2300">
              <a:solidFill>
                <a:schemeClr val="dk1"/>
              </a:solidFill>
              <a:latin typeface="Calibri"/>
              <a:ea typeface="Calibri"/>
              <a:cs typeface="Calibri"/>
              <a:sym typeface="Calibri"/>
            </a:endParaRPr>
          </a:p>
          <a:p>
            <a:pPr indent="0" lvl="0" marL="914400" rtl="0" algn="l">
              <a:spcBef>
                <a:spcPts val="0"/>
              </a:spcBef>
              <a:spcAft>
                <a:spcPts val="0"/>
              </a:spcAft>
              <a:buNone/>
            </a:pPr>
            <a:r>
              <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AutoNum type="arabicPeriod"/>
            </a:pPr>
            <a:r>
              <a:rPr b="1" lang="en-US" sz="2300">
                <a:solidFill>
                  <a:schemeClr val="dk1"/>
                </a:solidFill>
                <a:latin typeface="Calibri"/>
                <a:ea typeface="Calibri"/>
                <a:cs typeface="Calibri"/>
                <a:sym typeface="Calibri"/>
              </a:rPr>
              <a:t>Did it impact property agents' business?</a:t>
            </a:r>
            <a:endParaRPr b="1"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AutoNum type="arabicPeriod"/>
            </a:pPr>
            <a:r>
              <a:rPr b="1" lang="en-US" sz="2300">
                <a:solidFill>
                  <a:schemeClr val="dk1"/>
                </a:solidFill>
                <a:latin typeface="Calibri"/>
                <a:ea typeface="Calibri"/>
                <a:cs typeface="Calibri"/>
                <a:sym typeface="Calibri"/>
              </a:rPr>
              <a:t>How has the landscape changed, if at all?</a:t>
            </a:r>
            <a:endParaRPr b="1" sz="2300">
              <a:solidFill>
                <a:schemeClr val="dk1"/>
              </a:solidFill>
              <a:latin typeface="Calibri"/>
              <a:ea typeface="Calibri"/>
              <a:cs typeface="Calibri"/>
              <a:sym typeface="Calibri"/>
            </a:endParaRPr>
          </a:p>
          <a:p>
            <a:pPr indent="-374650" lvl="0" marL="9144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what does the HDB resale market actually look like in 2025 vs. 2017, and how much of that is really down to the portal</a:t>
            </a:r>
            <a:endParaRPr sz="2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g3f5596b38c6_0_11"/>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1</a:t>
            </a:r>
            <a:endParaRPr/>
          </a:p>
        </p:txBody>
      </p:sp>
      <p:sp>
        <p:nvSpPr>
          <p:cNvPr id="100" name="Google Shape;100;g3f5596b38c6_0_11"/>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Direct Adoption of the Portal</a:t>
            </a:r>
            <a:endParaRPr/>
          </a:p>
        </p:txBody>
      </p:sp>
      <p:cxnSp>
        <p:nvCxnSpPr>
          <p:cNvPr id="101" name="Google Shape;101;g3f5596b38c6_0_11"/>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02" name="Google Shape;102;g3f5596b38c6_0_11"/>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03" name="Google Shape;103;g3f5596b38c6_0_11"/>
          <p:cNvSpPr txBox="1"/>
          <p:nvPr/>
        </p:nvSpPr>
        <p:spPr>
          <a:xfrm>
            <a:off x="535000" y="1437725"/>
            <a:ext cx="110916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t>In short</a:t>
            </a:r>
            <a:r>
              <a:rPr lang="en-US"/>
              <a:t>: the direct self-service rate hasn't grown since 2017 (~9-10% of sellers, ~35-40% of buyers transact with no agent — flat, not statistically significant), and the resale market didn't structurally speed up at launch either. The most important nuance: a real, temporary spike in self-service did occur in 2019-2020, fully reverting by 2021 — and we can rule out COVID-19 as the cause.</a:t>
            </a:r>
            <a:endParaRPr/>
          </a:p>
        </p:txBody>
      </p:sp>
      <p:pic>
        <p:nvPicPr>
          <p:cNvPr id="104" name="Google Shape;104;g3f5596b38c6_0_11" title="02_diy_rate.png"/>
          <p:cNvPicPr preferRelativeResize="0"/>
          <p:nvPr/>
        </p:nvPicPr>
        <p:blipFill>
          <a:blip r:embed="rId3">
            <a:alphaModFix/>
          </a:blip>
          <a:stretch>
            <a:fillRect/>
          </a:stretch>
        </p:blipFill>
        <p:spPr>
          <a:xfrm>
            <a:off x="2870538" y="2335140"/>
            <a:ext cx="6450600" cy="4031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g3f5596b38c6_0_40"/>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1</a:t>
            </a:r>
            <a:endParaRPr/>
          </a:p>
        </p:txBody>
      </p:sp>
      <p:sp>
        <p:nvSpPr>
          <p:cNvPr id="110" name="Google Shape;110;g3f5596b38c6_0_40"/>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Direct Adoption of the Portal</a:t>
            </a:r>
            <a:endParaRPr/>
          </a:p>
        </p:txBody>
      </p:sp>
      <p:cxnSp>
        <p:nvCxnSpPr>
          <p:cNvPr id="111" name="Google Shape;111;g3f5596b38c6_0_40"/>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12" name="Google Shape;112;g3f5596b38c6_0_40"/>
          <p:cNvSpPr txBox="1"/>
          <p:nvPr/>
        </p:nvSpPr>
        <p:spPr>
          <a:xfrm>
            <a:off x="157135" y="6499449"/>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13" name="Google Shape;113;g3f5596b38c6_0_40"/>
          <p:cNvSpPr txBox="1"/>
          <p:nvPr/>
        </p:nvSpPr>
        <p:spPr>
          <a:xfrm>
            <a:off x="548650" y="1503850"/>
            <a:ext cx="1109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Was the increase in self-service adoption immediately after the Resale Portal launch (2019–2020) driven by the portal itself, or by other external factors? </a:t>
            </a:r>
            <a:endParaRPr/>
          </a:p>
        </p:txBody>
      </p:sp>
      <p:graphicFrame>
        <p:nvGraphicFramePr>
          <p:cNvPr id="114" name="Google Shape;114;g3f5596b38c6_0_40"/>
          <p:cNvGraphicFramePr/>
          <p:nvPr/>
        </p:nvGraphicFramePr>
        <p:xfrm>
          <a:off x="548650" y="2130638"/>
          <a:ext cx="3000000" cy="3000000"/>
        </p:xfrm>
        <a:graphic>
          <a:graphicData uri="http://schemas.openxmlformats.org/drawingml/2006/table">
            <a:tbl>
              <a:tblPr>
                <a:noFill/>
                <a:tableStyleId>{696E7FD8-9526-491F-8C27-FF481154938D}</a:tableStyleId>
              </a:tblPr>
              <a:tblGrid>
                <a:gridCol w="1021800"/>
                <a:gridCol w="1087225"/>
                <a:gridCol w="1524375"/>
                <a:gridCol w="1608675"/>
              </a:tblGrid>
              <a:tr h="372475">
                <a:tc>
                  <a:txBody>
                    <a:bodyPr/>
                    <a:lstStyle/>
                    <a:p>
                      <a:pPr indent="0" lvl="0" marL="0" rtl="0" algn="r">
                        <a:lnSpc>
                          <a:spcPct val="115000"/>
                        </a:lnSpc>
                        <a:spcBef>
                          <a:spcPts val="0"/>
                        </a:spcBef>
                        <a:spcAft>
                          <a:spcPts val="0"/>
                        </a:spcAft>
                        <a:buNone/>
                      </a:pPr>
                      <a:r>
                        <a:rPr b="1" lang="en-US" sz="1150">
                          <a:solidFill>
                            <a:schemeClr val="dk1"/>
                          </a:solidFill>
                        </a:rPr>
                        <a:t>month_start</a:t>
                      </a:r>
                      <a:endParaRPr b="1"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b="1" lang="en-US" sz="1150">
                          <a:solidFill>
                            <a:schemeClr val="dk1"/>
                          </a:solidFill>
                        </a:rPr>
                        <a:t>transactions</a:t>
                      </a:r>
                      <a:endParaRPr sz="15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1150">
                          <a:solidFill>
                            <a:schemeClr val="dk1"/>
                          </a:solidFill>
                        </a:rPr>
                        <a:t>seller</a:t>
                      </a:r>
                      <a:endParaRPr b="1" sz="1150">
                        <a:solidFill>
                          <a:schemeClr val="dk1"/>
                        </a:solidFill>
                      </a:endParaRPr>
                    </a:p>
                    <a:p>
                      <a:pPr indent="0" lvl="0" marL="0" rtl="0" algn="r">
                        <a:lnSpc>
                          <a:spcPct val="115000"/>
                        </a:lnSpc>
                        <a:spcBef>
                          <a:spcPts val="0"/>
                        </a:spcBef>
                        <a:spcAft>
                          <a:spcPts val="0"/>
                        </a:spcAft>
                        <a:buNone/>
                      </a:pPr>
                      <a:r>
                        <a:rPr b="1" lang="en-US" sz="1150">
                          <a:solidFill>
                            <a:schemeClr val="dk1"/>
                          </a:solidFill>
                        </a:rPr>
                        <a:t>engagement_rate</a:t>
                      </a:r>
                      <a:endParaRPr b="1"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1150">
                          <a:solidFill>
                            <a:schemeClr val="dk1"/>
                          </a:solidFill>
                        </a:rPr>
                        <a:t>buyer</a:t>
                      </a:r>
                      <a:endParaRPr b="1" sz="1150">
                        <a:solidFill>
                          <a:schemeClr val="dk1"/>
                        </a:solidFill>
                      </a:endParaRPr>
                    </a:p>
                    <a:p>
                      <a:pPr indent="0" lvl="0" marL="0" rtl="0" algn="r">
                        <a:lnSpc>
                          <a:spcPct val="115000"/>
                        </a:lnSpc>
                        <a:spcBef>
                          <a:spcPts val="0"/>
                        </a:spcBef>
                        <a:spcAft>
                          <a:spcPts val="0"/>
                        </a:spcAft>
                        <a:buNone/>
                      </a:pPr>
                      <a:r>
                        <a:rPr b="1" lang="en-US" sz="1150">
                          <a:solidFill>
                            <a:schemeClr val="dk1"/>
                          </a:solidFill>
                        </a:rPr>
                        <a:t>engagement_rate</a:t>
                      </a:r>
                      <a:endParaRPr b="1"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2020-02</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1661</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0.951</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0.554</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2020-03</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1937</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0.895</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0.504</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2020-04</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424</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r">
                        <a:lnSpc>
                          <a:spcPct val="115000"/>
                        </a:lnSpc>
                        <a:spcBef>
                          <a:spcPts val="0"/>
                        </a:spcBef>
                        <a:spcAft>
                          <a:spcPts val="0"/>
                        </a:spcAft>
                        <a:buNone/>
                      </a:pPr>
                      <a:r>
                        <a:rPr lang="en-US" sz="1150">
                          <a:solidFill>
                            <a:schemeClr val="dk1"/>
                          </a:solidFill>
                        </a:rPr>
                        <a:t>4.002</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2.090</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2020-05</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363</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rtl="0" algn="r">
                        <a:lnSpc>
                          <a:spcPct val="115000"/>
                        </a:lnSpc>
                        <a:spcBef>
                          <a:spcPts val="0"/>
                        </a:spcBef>
                        <a:spcAft>
                          <a:spcPts val="0"/>
                        </a:spcAft>
                        <a:buNone/>
                      </a:pPr>
                      <a:r>
                        <a:rPr lang="en-US" sz="1150">
                          <a:solidFill>
                            <a:schemeClr val="dk1"/>
                          </a:solidFill>
                        </a:rPr>
                        <a:t>4.394</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2.526</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2020-06</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2438</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0.160</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0.099</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2020-07</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2456</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0.292</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0.177</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475">
                <a:tc>
                  <a:txBody>
                    <a:bodyPr/>
                    <a:lstStyle/>
                    <a:p>
                      <a:pPr indent="0" lvl="0" marL="0" rtl="0" algn="r">
                        <a:lnSpc>
                          <a:spcPct val="115000"/>
                        </a:lnSpc>
                        <a:spcBef>
                          <a:spcPts val="0"/>
                        </a:spcBef>
                        <a:spcAft>
                          <a:spcPts val="0"/>
                        </a:spcAft>
                        <a:buNone/>
                      </a:pPr>
                      <a:r>
                        <a:rPr lang="en-US" sz="1150">
                          <a:solidFill>
                            <a:schemeClr val="dk1"/>
                          </a:solidFill>
                        </a:rPr>
                        <a:t>2020-08</a:t>
                      </a:r>
                      <a:endParaRPr sz="115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2426</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0.864</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50">
                          <a:solidFill>
                            <a:schemeClr val="dk1"/>
                          </a:solidFill>
                        </a:rPr>
                        <a:t>0.508</a:t>
                      </a:r>
                      <a:endParaRPr sz="115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5" name="Google Shape;115;g3f5596b38c6_0_40"/>
          <p:cNvSpPr txBox="1"/>
          <p:nvPr/>
        </p:nvSpPr>
        <p:spPr>
          <a:xfrm>
            <a:off x="6097925" y="1967688"/>
            <a:ext cx="5382000" cy="340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500"/>
              <a:t>Could it be due to COVID?</a:t>
            </a:r>
            <a:endParaRPr b="1" sz="1500"/>
          </a:p>
          <a:p>
            <a:pPr indent="0" lvl="0" marL="0" rtl="0" algn="l">
              <a:lnSpc>
                <a:spcPct val="115000"/>
              </a:lnSpc>
              <a:spcBef>
                <a:spcPts val="0"/>
              </a:spcBef>
              <a:spcAft>
                <a:spcPts val="0"/>
              </a:spcAft>
              <a:buNone/>
            </a:pPr>
            <a:r>
              <a:t/>
            </a:r>
            <a:endParaRPr b="1" sz="1500"/>
          </a:p>
          <a:p>
            <a:pPr indent="-317500" lvl="0" marL="457200" rtl="0" algn="l">
              <a:lnSpc>
                <a:spcPct val="115000"/>
              </a:lnSpc>
              <a:spcBef>
                <a:spcPts val="0"/>
              </a:spcBef>
              <a:spcAft>
                <a:spcPts val="0"/>
              </a:spcAft>
              <a:buSzPts val="1400"/>
              <a:buAutoNum type="arabicPeriod"/>
            </a:pPr>
            <a:r>
              <a:rPr lang="en-US">
                <a:solidFill>
                  <a:schemeClr val="dk1"/>
                </a:solidFill>
              </a:rPr>
              <a:t>The COVID-19 circuit breaker created a significant monthly reporting artifact. HDB registration volumes fell sharply during April–May 2020 due to paused processing, followed by a surge in June–July as the backlog was cleared. </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Excluding the COVID-19 disruption period (April–July 2020) has minimal impact on the annual self-service rate. Seller DIY adoption increased slightly from 9.63% to 10.80%, while buyer adoption changed marginally from 45.57% to 46.09%. This suggests that the observed increase in 2020 was not driven by the temporary COVID-19 disruption.</a:t>
            </a:r>
            <a:endParaRPr>
              <a:solidFill>
                <a:schemeClr val="dk1"/>
              </a:solidFill>
            </a:endParaRPr>
          </a:p>
        </p:txBody>
      </p:sp>
      <p:sp>
        <p:nvSpPr>
          <p:cNvPr id="116" name="Google Shape;116;g3f5596b38c6_0_40"/>
          <p:cNvSpPr txBox="1"/>
          <p:nvPr/>
        </p:nvSpPr>
        <p:spPr>
          <a:xfrm>
            <a:off x="548650" y="5395138"/>
            <a:ext cx="11226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600">
                <a:solidFill>
                  <a:schemeClr val="accent2"/>
                </a:solidFill>
              </a:rPr>
              <a:t>After accounting for alternative explanations (COVID-19, reporting lag), the evidence suggests the Resale Portal contributed to a </a:t>
            </a:r>
            <a:r>
              <a:rPr b="1" i="1" lang="en-US" sz="1600">
                <a:solidFill>
                  <a:schemeClr val="accent2"/>
                </a:solidFill>
              </a:rPr>
              <a:t>genuine but short-lived increase in buyer self-service adoption during 2019–2020</a:t>
            </a:r>
            <a:r>
              <a:rPr i="1" lang="en-US" sz="1600">
                <a:solidFill>
                  <a:schemeClr val="accent2"/>
                </a:solidFill>
              </a:rPr>
              <a:t>. In contrast, there is insufficient evidence to conclude that the portal had a similar impact on seller self-service adoption. </a:t>
            </a:r>
            <a:endParaRPr i="1" sz="1600">
              <a:solidFill>
                <a:schemeClr val="accen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g3f5596b38c6_0_25"/>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2</a:t>
            </a:r>
            <a:endParaRPr/>
          </a:p>
        </p:txBody>
      </p:sp>
      <p:sp>
        <p:nvSpPr>
          <p:cNvPr id="122" name="Google Shape;122;g3f5596b38c6_0_25"/>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Adoption Geography</a:t>
            </a:r>
            <a:endParaRPr/>
          </a:p>
        </p:txBody>
      </p:sp>
      <p:cxnSp>
        <p:nvCxnSpPr>
          <p:cNvPr id="123" name="Google Shape;123;g3f5596b38c6_0_25"/>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24" name="Google Shape;124;g3f5596b38c6_0_25"/>
          <p:cNvSpPr txBox="1"/>
          <p:nvPr/>
        </p:nvSpPr>
        <p:spPr>
          <a:xfrm>
            <a:off x="157135" y="641909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pic>
        <p:nvPicPr>
          <p:cNvPr id="125" name="Google Shape;125;g3f5596b38c6_0_25" title="11_town_diy_rate.png"/>
          <p:cNvPicPr preferRelativeResize="0"/>
          <p:nvPr/>
        </p:nvPicPr>
        <p:blipFill>
          <a:blip r:embed="rId3">
            <a:alphaModFix/>
          </a:blip>
          <a:stretch>
            <a:fillRect/>
          </a:stretch>
        </p:blipFill>
        <p:spPr>
          <a:xfrm>
            <a:off x="885150" y="2357050"/>
            <a:ext cx="5240469" cy="3390899"/>
          </a:xfrm>
          <a:prstGeom prst="rect">
            <a:avLst/>
          </a:prstGeom>
          <a:noFill/>
          <a:ln>
            <a:noFill/>
          </a:ln>
        </p:spPr>
      </p:pic>
      <p:sp>
        <p:nvSpPr>
          <p:cNvPr id="126" name="Google Shape;126;g3f5596b38c6_0_25"/>
          <p:cNvSpPr txBox="1"/>
          <p:nvPr/>
        </p:nvSpPr>
        <p:spPr>
          <a:xfrm>
            <a:off x="563688" y="1371600"/>
            <a:ext cx="11064300" cy="89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a:t>Key Finding: </a:t>
            </a:r>
            <a:r>
              <a:rPr lang="en-US"/>
              <a:t>portal adoption appears relatively stable, but this masks substantial geographic variation across HDB towns. From 2019–2025, seller self-service rates range from 6.3% to 13.4%, while buyer rates range from 31% to 68%.</a:t>
            </a:r>
            <a:endParaRPr/>
          </a:p>
          <a:p>
            <a:pPr indent="0" lvl="0" marL="0" marR="0" rtl="0" algn="l">
              <a:lnSpc>
                <a:spcPct val="115000"/>
              </a:lnSpc>
              <a:spcBef>
                <a:spcPts val="0"/>
              </a:spcBef>
              <a:spcAft>
                <a:spcPts val="0"/>
              </a:spcAft>
              <a:buNone/>
            </a:pPr>
            <a:r>
              <a:rPr lang="en-US"/>
              <a:t>Smaller towns consistently show higher self-service adoption, highlighting persistent geographic differences in portal usage. </a:t>
            </a:r>
            <a:endParaRPr/>
          </a:p>
        </p:txBody>
      </p:sp>
      <p:graphicFrame>
        <p:nvGraphicFramePr>
          <p:cNvPr id="127" name="Google Shape;127;g3f5596b38c6_0_25"/>
          <p:cNvGraphicFramePr/>
          <p:nvPr/>
        </p:nvGraphicFramePr>
        <p:xfrm>
          <a:off x="6549850" y="2267388"/>
          <a:ext cx="3000000" cy="3000000"/>
        </p:xfrm>
        <a:graphic>
          <a:graphicData uri="http://schemas.openxmlformats.org/drawingml/2006/table">
            <a:tbl>
              <a:tblPr>
                <a:noFill/>
                <a:tableStyleId>{696E7FD8-9526-491F-8C27-FF481154938D}</a:tableStyleId>
              </a:tblPr>
              <a:tblGrid>
                <a:gridCol w="1703200"/>
                <a:gridCol w="1109550"/>
                <a:gridCol w="1105800"/>
                <a:gridCol w="1057075"/>
              </a:tblGrid>
              <a:tr h="257175">
                <a:tc>
                  <a:txBody>
                    <a:bodyPr/>
                    <a:lstStyle/>
                    <a:p>
                      <a:pPr indent="0" lvl="0" marL="0" rtl="0" algn="r">
                        <a:lnSpc>
                          <a:spcPct val="115000"/>
                        </a:lnSpc>
                        <a:spcBef>
                          <a:spcPts val="0"/>
                        </a:spcBef>
                        <a:spcAft>
                          <a:spcPts val="0"/>
                        </a:spcAft>
                        <a:buNone/>
                      </a:pPr>
                      <a:r>
                        <a:rPr b="1" lang="en-US" sz="1100">
                          <a:solidFill>
                            <a:schemeClr val="dk1"/>
                          </a:solidFill>
                        </a:rPr>
                        <a:t>town</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b="1" lang="en-US" sz="1100">
                          <a:solidFill>
                            <a:schemeClr val="dk1"/>
                          </a:solidFill>
                        </a:rPr>
                        <a:t>transaction</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1100">
                          <a:solidFill>
                            <a:schemeClr val="dk1"/>
                          </a:solidFill>
                        </a:rPr>
                        <a:t>seller</a:t>
                      </a:r>
                      <a:endParaRPr b="1" sz="1100">
                        <a:solidFill>
                          <a:schemeClr val="dk1"/>
                        </a:solidFill>
                      </a:endParaRPr>
                    </a:p>
                    <a:p>
                      <a:pPr indent="0" lvl="0" marL="0" rtl="0" algn="r">
                        <a:lnSpc>
                          <a:spcPct val="115000"/>
                        </a:lnSpc>
                        <a:spcBef>
                          <a:spcPts val="0"/>
                        </a:spcBef>
                        <a:spcAft>
                          <a:spcPts val="0"/>
                        </a:spcAft>
                        <a:buNone/>
                      </a:pPr>
                      <a:r>
                        <a:rPr b="1" lang="en-US" sz="1100">
                          <a:solidFill>
                            <a:schemeClr val="dk1"/>
                          </a:solidFill>
                        </a:rPr>
                        <a:t>diy_rate</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US" sz="1100">
                          <a:solidFill>
                            <a:schemeClr val="dk1"/>
                          </a:solidFill>
                        </a:rPr>
                        <a:t>buyer</a:t>
                      </a:r>
                      <a:endParaRPr b="1" sz="1100">
                        <a:solidFill>
                          <a:schemeClr val="dk1"/>
                        </a:solidFill>
                      </a:endParaRPr>
                    </a:p>
                    <a:p>
                      <a:pPr indent="0" lvl="0" marL="0" rtl="0" algn="r">
                        <a:lnSpc>
                          <a:spcPct val="115000"/>
                        </a:lnSpc>
                        <a:spcBef>
                          <a:spcPts val="0"/>
                        </a:spcBef>
                        <a:spcAft>
                          <a:spcPts val="0"/>
                        </a:spcAft>
                        <a:buNone/>
                      </a:pPr>
                      <a:r>
                        <a:rPr b="1" lang="en-US" sz="1100">
                          <a:solidFill>
                            <a:schemeClr val="dk1"/>
                          </a:solidFill>
                        </a:rPr>
                        <a:t>diy_rate</a:t>
                      </a:r>
                      <a:endParaRPr b="1"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CENTRAL AREA</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1377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0.134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0.638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BUKIT TIMAH</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424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0.123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0.684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SERANGOON</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3064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0.495</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TOA PAYOH</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5730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0.114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0.510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BISHAN</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3038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0.111</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0.550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BUKIT MERAH</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6768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0.110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0.573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ANG MO KIO</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7108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0.108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0.458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MARINE PARADE</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1103</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0.102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0.567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GEYLANG</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4472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0.102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0.510</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HOUGANG</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9207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0.102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0.428</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7175">
                <a:tc>
                  <a:txBody>
                    <a:bodyPr/>
                    <a:lstStyle/>
                    <a:p>
                      <a:pPr indent="0" lvl="0" marL="0" rtl="0" algn="r">
                        <a:lnSpc>
                          <a:spcPct val="115000"/>
                        </a:lnSpc>
                        <a:spcBef>
                          <a:spcPts val="0"/>
                        </a:spcBef>
                        <a:spcAft>
                          <a:spcPts val="0"/>
                        </a:spcAft>
                        <a:buNone/>
                      </a:pPr>
                      <a:r>
                        <a:rPr lang="en-US" sz="1100">
                          <a:solidFill>
                            <a:schemeClr val="dk1"/>
                          </a:solidFill>
                        </a:rPr>
                        <a:t>BEDOK</a:t>
                      </a:r>
                      <a:endParaRPr sz="1100">
                        <a:solidFill>
                          <a:schemeClr val="dk1"/>
                        </a:solidFill>
                      </a:endParaRPr>
                    </a:p>
                  </a:txBody>
                  <a:tcPr marT="38100" marB="3810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9274</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0.102</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100">
                          <a:solidFill>
                            <a:schemeClr val="dk1"/>
                          </a:solidFill>
                        </a:rPr>
                        <a:t>0.417</a:t>
                      </a:r>
                      <a:endParaRPr sz="1100">
                        <a:solidFill>
                          <a:schemeClr val="dk1"/>
                        </a:solidFill>
                      </a:endParaRPr>
                    </a:p>
                  </a:txBody>
                  <a:tcPr marT="38100" marB="381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8" name="Google Shape;128;g3f5596b38c6_0_25"/>
          <p:cNvSpPr txBox="1"/>
          <p:nvPr/>
        </p:nvSpPr>
        <p:spPr>
          <a:xfrm>
            <a:off x="987275" y="5715450"/>
            <a:ext cx="10492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accent2"/>
                </a:solidFill>
              </a:rPr>
              <a:t>Smaller towns such as </a:t>
            </a:r>
            <a:r>
              <a:rPr b="1" lang="en-US" sz="1500">
                <a:solidFill>
                  <a:schemeClr val="accent2"/>
                </a:solidFill>
              </a:rPr>
              <a:t>Central Area</a:t>
            </a:r>
            <a:r>
              <a:rPr lang="en-US" sz="1500">
                <a:solidFill>
                  <a:schemeClr val="accent2"/>
                </a:solidFill>
              </a:rPr>
              <a:t> and </a:t>
            </a:r>
            <a:r>
              <a:rPr b="1" lang="en-US" sz="1500">
                <a:solidFill>
                  <a:schemeClr val="accent2"/>
                </a:solidFill>
              </a:rPr>
              <a:t>Bukit Timah</a:t>
            </a:r>
            <a:r>
              <a:rPr lang="en-US" sz="1500">
                <a:solidFill>
                  <a:schemeClr val="accent2"/>
                </a:solidFill>
              </a:rPr>
              <a:t> consistently exhibit higher self-service adoption than larger towns such as </a:t>
            </a:r>
            <a:r>
              <a:rPr b="1" lang="en-US" sz="1500">
                <a:solidFill>
                  <a:schemeClr val="accent2"/>
                </a:solidFill>
              </a:rPr>
              <a:t>Sengkang, Punggol, and Woodlands</a:t>
            </a:r>
            <a:r>
              <a:rPr lang="en-US" sz="1500">
                <a:solidFill>
                  <a:schemeClr val="accent2"/>
                </a:solidFill>
              </a:rPr>
              <a:t>. </a:t>
            </a:r>
            <a:endParaRPr sz="1500">
              <a:solidFill>
                <a:schemeClr val="accen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f5596b38c6_3_0"/>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3</a:t>
            </a:r>
            <a:endParaRPr/>
          </a:p>
        </p:txBody>
      </p:sp>
      <p:sp>
        <p:nvSpPr>
          <p:cNvPr id="134" name="Google Shape;134;g3f5596b38c6_3_0"/>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Did it impact property agent’s business</a:t>
            </a:r>
            <a:endParaRPr/>
          </a:p>
        </p:txBody>
      </p:sp>
      <p:cxnSp>
        <p:nvCxnSpPr>
          <p:cNvPr id="135" name="Google Shape;135;g3f5596b38c6_3_0"/>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36" name="Google Shape;136;g3f5596b38c6_3_0"/>
          <p:cNvSpPr txBox="1"/>
          <p:nvPr/>
        </p:nvSpPr>
        <p:spPr>
          <a:xfrm>
            <a:off x="157135" y="641909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37" name="Google Shape;137;g3f5596b38c6_3_0"/>
          <p:cNvSpPr txBox="1"/>
          <p:nvPr/>
        </p:nvSpPr>
        <p:spPr>
          <a:xfrm>
            <a:off x="431075" y="1448975"/>
            <a:ext cx="11506800" cy="163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a:t>Key Finding: </a:t>
            </a:r>
            <a:r>
              <a:rPr lang="en-US"/>
              <a:t>Overall, the agent industry remained resilient following the Resale Portal's introduction. Since 2017, the agent workforce has grown by 22%, while productivity and market-share concentration have remained stable.</a:t>
            </a:r>
            <a:endParaRPr/>
          </a:p>
          <a:p>
            <a:pPr indent="0" lvl="0" marL="0" marR="0" rtl="0" algn="l">
              <a:lnSpc>
                <a:spcPct val="115000"/>
              </a:lnSpc>
              <a:spcBef>
                <a:spcPts val="0"/>
              </a:spcBef>
              <a:spcAft>
                <a:spcPts val="0"/>
              </a:spcAft>
              <a:buNone/>
            </a:pPr>
            <a:r>
              <a:rPr lang="en-US"/>
              <a:t>The key exception is agent churn, which turned negative in 2023–2024, with more agents exiting than entering the profession. As this occurred several years after the portal's launch and does not align with self-service adoption trends, it is more likely driven by broader market or industry factors.</a:t>
            </a:r>
            <a:endParaRPr/>
          </a:p>
          <a:p>
            <a:pPr indent="0" lvl="0" marL="0" marR="0" rtl="0" algn="l">
              <a:lnSpc>
                <a:spcPct val="115000"/>
              </a:lnSpc>
              <a:spcBef>
                <a:spcPts val="0"/>
              </a:spcBef>
              <a:spcAft>
                <a:spcPts val="0"/>
              </a:spcAft>
              <a:buNone/>
            </a:pPr>
            <a:r>
              <a:t/>
            </a:r>
            <a:endParaRPr/>
          </a:p>
        </p:txBody>
      </p:sp>
      <p:pic>
        <p:nvPicPr>
          <p:cNvPr id="138" name="Google Shape;138;g3f5596b38c6_3_0" title="05_volume_vs_agent_deals.png"/>
          <p:cNvPicPr preferRelativeResize="0"/>
          <p:nvPr/>
        </p:nvPicPr>
        <p:blipFill>
          <a:blip r:embed="rId3">
            <a:alphaModFix/>
          </a:blip>
          <a:stretch>
            <a:fillRect/>
          </a:stretch>
        </p:blipFill>
        <p:spPr>
          <a:xfrm>
            <a:off x="1223175" y="2753026"/>
            <a:ext cx="4113749" cy="2571100"/>
          </a:xfrm>
          <a:prstGeom prst="rect">
            <a:avLst/>
          </a:prstGeom>
          <a:noFill/>
          <a:ln>
            <a:noFill/>
          </a:ln>
        </p:spPr>
      </p:pic>
      <p:pic>
        <p:nvPicPr>
          <p:cNvPr id="139" name="Google Shape;139;g3f5596b38c6_3_0" title="06_engagement_index.png"/>
          <p:cNvPicPr preferRelativeResize="0"/>
          <p:nvPr/>
        </p:nvPicPr>
        <p:blipFill>
          <a:blip r:embed="rId4">
            <a:alphaModFix/>
          </a:blip>
          <a:stretch>
            <a:fillRect/>
          </a:stretch>
        </p:blipFill>
        <p:spPr>
          <a:xfrm>
            <a:off x="6585700" y="2753025"/>
            <a:ext cx="4113749" cy="2571093"/>
          </a:xfrm>
          <a:prstGeom prst="rect">
            <a:avLst/>
          </a:prstGeom>
          <a:noFill/>
          <a:ln>
            <a:noFill/>
          </a:ln>
        </p:spPr>
      </p:pic>
      <p:sp>
        <p:nvSpPr>
          <p:cNvPr id="140" name="Google Shape;140;g3f5596b38c6_3_0"/>
          <p:cNvSpPr txBox="1"/>
          <p:nvPr/>
        </p:nvSpPr>
        <p:spPr>
          <a:xfrm>
            <a:off x="937550" y="5398500"/>
            <a:ext cx="4960500" cy="12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The grey bars (overall market) and coloured lines (agent-handled transactions) move together, showing that agents have kept pace with market growth.</a:t>
            </a:r>
            <a:endParaRPr/>
          </a:p>
          <a:p>
            <a:pPr indent="0" lvl="0" marL="0" rtl="0" algn="l">
              <a:lnSpc>
                <a:spcPct val="115000"/>
              </a:lnSpc>
              <a:spcBef>
                <a:spcPts val="1200"/>
              </a:spcBef>
              <a:spcAft>
                <a:spcPts val="1200"/>
              </a:spcAft>
              <a:buNone/>
            </a:pPr>
            <a:r>
              <a:t/>
            </a:r>
            <a:endParaRPr/>
          </a:p>
        </p:txBody>
      </p:sp>
      <p:sp>
        <p:nvSpPr>
          <p:cNvPr id="141" name="Google Shape;141;g3f5596b38c6_3_0"/>
          <p:cNvSpPr txBox="1"/>
          <p:nvPr/>
        </p:nvSpPr>
        <p:spPr>
          <a:xfrm>
            <a:off x="6585700" y="5423713"/>
            <a:ext cx="51189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t>Agent market share remained broadly stable from 2017–2025, with only a temporary dip in 2019–2020 and no evidence of a sustained decline in agents' role.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g3f5596b38c6_0_82"/>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3</a:t>
            </a:r>
            <a:endParaRPr/>
          </a:p>
        </p:txBody>
      </p:sp>
      <p:sp>
        <p:nvSpPr>
          <p:cNvPr id="147" name="Google Shape;147;g3f5596b38c6_0_82"/>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Did it impact property agent’s business</a:t>
            </a:r>
            <a:endParaRPr/>
          </a:p>
        </p:txBody>
      </p:sp>
      <p:cxnSp>
        <p:nvCxnSpPr>
          <p:cNvPr id="148" name="Google Shape;148;g3f5596b38c6_0_82"/>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49" name="Google Shape;149;g3f5596b38c6_0_82"/>
          <p:cNvSpPr txBox="1"/>
          <p:nvPr/>
        </p:nvSpPr>
        <p:spPr>
          <a:xfrm>
            <a:off x="157135" y="641909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50" name="Google Shape;150;g3f5596b38c6_0_82"/>
          <p:cNvSpPr txBox="1"/>
          <p:nvPr/>
        </p:nvSpPr>
        <p:spPr>
          <a:xfrm>
            <a:off x="431075" y="1448975"/>
            <a:ext cx="113295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a:t>Key Finding: </a:t>
            </a:r>
            <a:r>
              <a:rPr lang="en-US"/>
              <a:t>Overall, the agent industry remained resilient despite the introduction of the Resale Portal. Since 2017, the agent workforce has grown by 22%, while productivity and market-share concentration have remained broadly stable.</a:t>
            </a:r>
            <a:endParaRPr/>
          </a:p>
        </p:txBody>
      </p:sp>
      <p:pic>
        <p:nvPicPr>
          <p:cNvPr id="151" name="Google Shape;151;g3f5596b38c6_0_82" title="07_active_agents.png"/>
          <p:cNvPicPr preferRelativeResize="0"/>
          <p:nvPr/>
        </p:nvPicPr>
        <p:blipFill>
          <a:blip r:embed="rId3">
            <a:alphaModFix/>
          </a:blip>
          <a:stretch>
            <a:fillRect/>
          </a:stretch>
        </p:blipFill>
        <p:spPr>
          <a:xfrm>
            <a:off x="629000" y="2096975"/>
            <a:ext cx="5238264" cy="3273915"/>
          </a:xfrm>
          <a:prstGeom prst="rect">
            <a:avLst/>
          </a:prstGeom>
          <a:noFill/>
          <a:ln>
            <a:noFill/>
          </a:ln>
        </p:spPr>
      </p:pic>
      <p:pic>
        <p:nvPicPr>
          <p:cNvPr id="152" name="Google Shape;152;g3f5596b38c6_0_82" title="08_deals_per_agent.png"/>
          <p:cNvPicPr preferRelativeResize="0"/>
          <p:nvPr/>
        </p:nvPicPr>
        <p:blipFill>
          <a:blip r:embed="rId4">
            <a:alphaModFix/>
          </a:blip>
          <a:stretch>
            <a:fillRect/>
          </a:stretch>
        </p:blipFill>
        <p:spPr>
          <a:xfrm>
            <a:off x="6252739" y="2130650"/>
            <a:ext cx="5238264" cy="3273915"/>
          </a:xfrm>
          <a:prstGeom prst="rect">
            <a:avLst/>
          </a:prstGeom>
          <a:noFill/>
          <a:ln>
            <a:noFill/>
          </a:ln>
        </p:spPr>
      </p:pic>
      <p:sp>
        <p:nvSpPr>
          <p:cNvPr id="153" name="Google Shape;153;g3f5596b38c6_0_82"/>
          <p:cNvSpPr txBox="1"/>
          <p:nvPr/>
        </p:nvSpPr>
        <p:spPr>
          <a:xfrm>
            <a:off x="548650" y="5532300"/>
            <a:ext cx="541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The number of active agents has continued to grow since 2017, with no evidence that the portal has reduced agent participation. </a:t>
            </a:r>
            <a:endParaRPr/>
          </a:p>
        </p:txBody>
      </p:sp>
      <p:sp>
        <p:nvSpPr>
          <p:cNvPr id="154" name="Google Shape;154;g3f5596b38c6_0_82"/>
          <p:cNvSpPr txBox="1"/>
          <p:nvPr/>
        </p:nvSpPr>
        <p:spPr>
          <a:xfrm>
            <a:off x="6459400" y="5370900"/>
            <a:ext cx="55077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t>Agents continue to handle a similar number of transactions as in 2017, with a temporary increase during the 2021 resale boom and no evidence of declining workload due to higher self-service adoption.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g3f5596b38c6_0_120"/>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3</a:t>
            </a:r>
            <a:endParaRPr/>
          </a:p>
        </p:txBody>
      </p:sp>
      <p:sp>
        <p:nvSpPr>
          <p:cNvPr id="160" name="Google Shape;160;g3f5596b38c6_0_120"/>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Did it impact property agent’s business</a:t>
            </a:r>
            <a:endParaRPr/>
          </a:p>
        </p:txBody>
      </p:sp>
      <p:cxnSp>
        <p:nvCxnSpPr>
          <p:cNvPr id="161" name="Google Shape;161;g3f5596b38c6_0_120"/>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62" name="Google Shape;162;g3f5596b38c6_0_120"/>
          <p:cNvSpPr txBox="1"/>
          <p:nvPr/>
        </p:nvSpPr>
        <p:spPr>
          <a:xfrm>
            <a:off x="157135" y="641909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63" name="Google Shape;163;g3f5596b38c6_0_120"/>
          <p:cNvSpPr txBox="1"/>
          <p:nvPr/>
        </p:nvSpPr>
        <p:spPr>
          <a:xfrm>
            <a:off x="431075" y="1448975"/>
            <a:ext cx="11329500" cy="89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a:t>Key Finding: </a:t>
            </a:r>
            <a:r>
              <a:rPr lang="en-US"/>
              <a:t>The notable exception is agent churn, which turned negative in 2023–2024, with more agents exiting than entering the profession for the first time. As this shift occurred several years after the portal's launch and does not align with the relatively flat self-service adoption trend, it is likely influenced by broader market or industry factors rather than the portal alone.</a:t>
            </a:r>
            <a:endParaRPr/>
          </a:p>
        </p:txBody>
      </p:sp>
      <p:pic>
        <p:nvPicPr>
          <p:cNvPr id="164" name="Google Shape;164;g3f5596b38c6_0_120" title="09_agent_churn.png"/>
          <p:cNvPicPr preferRelativeResize="0"/>
          <p:nvPr/>
        </p:nvPicPr>
        <p:blipFill>
          <a:blip r:embed="rId3">
            <a:alphaModFix/>
          </a:blip>
          <a:stretch>
            <a:fillRect/>
          </a:stretch>
        </p:blipFill>
        <p:spPr>
          <a:xfrm>
            <a:off x="680475" y="2422150"/>
            <a:ext cx="5092701" cy="3182950"/>
          </a:xfrm>
          <a:prstGeom prst="rect">
            <a:avLst/>
          </a:prstGeom>
          <a:noFill/>
          <a:ln>
            <a:noFill/>
          </a:ln>
        </p:spPr>
      </p:pic>
      <p:pic>
        <p:nvPicPr>
          <p:cNvPr id="165" name="Google Shape;165;g3f5596b38c6_0_120" title="10_concentration.png"/>
          <p:cNvPicPr preferRelativeResize="0"/>
          <p:nvPr/>
        </p:nvPicPr>
        <p:blipFill>
          <a:blip r:embed="rId4">
            <a:alphaModFix/>
          </a:blip>
          <a:stretch>
            <a:fillRect/>
          </a:stretch>
        </p:blipFill>
        <p:spPr>
          <a:xfrm>
            <a:off x="6520250" y="2422150"/>
            <a:ext cx="5092701" cy="3182932"/>
          </a:xfrm>
          <a:prstGeom prst="rect">
            <a:avLst/>
          </a:prstGeom>
          <a:noFill/>
          <a:ln>
            <a:noFill/>
          </a:ln>
        </p:spPr>
      </p:pic>
      <p:sp>
        <p:nvSpPr>
          <p:cNvPr id="166" name="Google Shape;166;g3f5596b38c6_0_120"/>
          <p:cNvSpPr txBox="1"/>
          <p:nvPr/>
        </p:nvSpPr>
        <p:spPr>
          <a:xfrm>
            <a:off x="275875" y="5605075"/>
            <a:ext cx="59019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solidFill>
                  <a:schemeClr val="dk1"/>
                </a:solidFill>
              </a:rPr>
              <a:t>New agent entries exceeded exits for most of the period, but </a:t>
            </a:r>
            <a:r>
              <a:rPr b="1" lang="en-US">
                <a:solidFill>
                  <a:schemeClr val="dk1"/>
                </a:solidFill>
              </a:rPr>
              <a:t>2023–2024</a:t>
            </a:r>
            <a:r>
              <a:rPr lang="en-US">
                <a:solidFill>
                  <a:schemeClr val="dk1"/>
                </a:solidFill>
              </a:rPr>
              <a:t> marked the first years where agent exits outpaced new entrants.</a:t>
            </a:r>
            <a:endParaRPr>
              <a:solidFill>
                <a:schemeClr val="dk1"/>
              </a:solidFill>
            </a:endParaRPr>
          </a:p>
        </p:txBody>
      </p:sp>
      <p:sp>
        <p:nvSpPr>
          <p:cNvPr id="167" name="Google Shape;167;g3f5596b38c6_0_120"/>
          <p:cNvSpPr txBox="1"/>
          <p:nvPr/>
        </p:nvSpPr>
        <p:spPr>
          <a:xfrm>
            <a:off x="6520250" y="5605100"/>
            <a:ext cx="53028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t>The top 10% of agents consistently handled a similar share of transactions from 2017–2025, </a:t>
            </a:r>
            <a:r>
              <a:rPr lang="en-US"/>
              <a:t>with no evidence of increasing market concentration.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g3f5596b38c6_3_9"/>
          <p:cNvSpPr txBox="1"/>
          <p:nvPr/>
        </p:nvSpPr>
        <p:spPr>
          <a:xfrm>
            <a:off x="548640" y="320040"/>
            <a:ext cx="73152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300">
                <a:solidFill>
                  <a:srgbClr val="2166AC"/>
                </a:solidFill>
              </a:rPr>
              <a:t>OBJECTIVE 4</a:t>
            </a:r>
            <a:endParaRPr/>
          </a:p>
        </p:txBody>
      </p:sp>
      <p:sp>
        <p:nvSpPr>
          <p:cNvPr id="173" name="Google Shape;173;g3f5596b38c6_3_9"/>
          <p:cNvSpPr txBox="1"/>
          <p:nvPr/>
        </p:nvSpPr>
        <p:spPr>
          <a:xfrm>
            <a:off x="548640" y="621792"/>
            <a:ext cx="1106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800">
                <a:solidFill>
                  <a:srgbClr val="222222"/>
                </a:solidFill>
              </a:rPr>
              <a:t>How has the landscape changed, since the launch of the Portal</a:t>
            </a:r>
            <a:endParaRPr/>
          </a:p>
        </p:txBody>
      </p:sp>
      <p:cxnSp>
        <p:nvCxnSpPr>
          <p:cNvPr id="174" name="Google Shape;174;g3f5596b38c6_3_9"/>
          <p:cNvCxnSpPr/>
          <p:nvPr/>
        </p:nvCxnSpPr>
        <p:spPr>
          <a:xfrm>
            <a:off x="548640" y="1371600"/>
            <a:ext cx="11091600" cy="0"/>
          </a:xfrm>
          <a:prstGeom prst="straightConnector1">
            <a:avLst/>
          </a:prstGeom>
          <a:noFill/>
          <a:ln cap="flat" cmpd="sng" w="12700">
            <a:solidFill>
              <a:srgbClr val="C7CCD1"/>
            </a:solidFill>
            <a:prstDash val="solid"/>
            <a:round/>
            <a:headEnd len="sm" w="sm" type="none"/>
            <a:tailEnd len="sm" w="sm" type="none"/>
          </a:ln>
          <a:effectLst>
            <a:outerShdw blurRad="40000" rotWithShape="0" dir="5400000" dist="20000">
              <a:srgbClr val="000000">
                <a:alpha val="38040"/>
              </a:srgbClr>
            </a:outerShdw>
          </a:effectLst>
        </p:spPr>
      </p:cxnSp>
      <p:sp>
        <p:nvSpPr>
          <p:cNvPr id="175" name="Google Shape;175;g3f5596b38c6_3_9"/>
          <p:cNvSpPr txBox="1"/>
          <p:nvPr/>
        </p:nvSpPr>
        <p:spPr>
          <a:xfrm>
            <a:off x="157135" y="6419090"/>
            <a:ext cx="731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1" lang="en-US" sz="1200">
                <a:solidFill>
                  <a:srgbClr val="8F9BB5"/>
                </a:solidFill>
              </a:rPr>
              <a:t>Candidate Ng Zong Yi</a:t>
            </a:r>
            <a:r>
              <a:rPr b="0" i="1" lang="en-US" sz="1200" u="none" cap="none" strike="noStrike">
                <a:solidFill>
                  <a:srgbClr val="8F9BB5"/>
                </a:solidFill>
                <a:latin typeface="Arial"/>
                <a:ea typeface="Arial"/>
                <a:cs typeface="Arial"/>
                <a:sym typeface="Arial"/>
              </a:rPr>
              <a:t> ·  </a:t>
            </a:r>
            <a:r>
              <a:rPr i="1" lang="en-US" sz="1200">
                <a:solidFill>
                  <a:srgbClr val="8F9BB5"/>
                </a:solidFill>
              </a:rPr>
              <a:t>ngzongyi@gmail.com</a:t>
            </a:r>
            <a:endParaRPr i="1"/>
          </a:p>
        </p:txBody>
      </p:sp>
      <p:sp>
        <p:nvSpPr>
          <p:cNvPr id="176" name="Google Shape;176;g3f5596b38c6_3_9"/>
          <p:cNvSpPr txBox="1"/>
          <p:nvPr/>
        </p:nvSpPr>
        <p:spPr>
          <a:xfrm>
            <a:off x="826525" y="2713750"/>
            <a:ext cx="10089600" cy="3070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The resale market grew significantly</a:t>
            </a:r>
            <a:r>
              <a:rPr lang="en-US" sz="1500">
                <a:solidFill>
                  <a:schemeClr val="dk1"/>
                </a:solidFill>
              </a:rPr>
              <a:t>, driven primarily by COVID-era demand and rising resale prices rather than the Resale Portal.</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Self-service adoption remained broadly stable</a:t>
            </a:r>
            <a:r>
              <a:rPr lang="en-US" sz="1500">
                <a:solidFill>
                  <a:schemeClr val="dk1"/>
                </a:solidFill>
              </a:rPr>
              <a:t>, with only a temporary increase in buyer adoption during 2019–2020 and no sustained shift away from agents.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The agent industry remained resilient</a:t>
            </a:r>
            <a:r>
              <a:rPr lang="en-US" sz="1500">
                <a:solidFill>
                  <a:schemeClr val="dk1"/>
                </a:solidFill>
              </a:rPr>
              <a:t>, with workforce size, productivity, and market concentration staying broadly stable despite the portal's introduction.</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Agent churn emerged as the key structural change</a:t>
            </a:r>
            <a:r>
              <a:rPr lang="en-US" sz="1500">
                <a:solidFill>
                  <a:schemeClr val="dk1"/>
                </a:solidFill>
              </a:rPr>
              <a:t>, with more agents exiting than entering from 2023–2024, a trend that appears independent of portal adoption.</a:t>
            </a:r>
            <a:endParaRPr sz="1500">
              <a:solidFill>
                <a:schemeClr val="dk1"/>
              </a:solidFill>
            </a:endParaRPr>
          </a:p>
          <a:p>
            <a:pPr indent="0" lvl="0" marL="0" rtl="0" algn="l">
              <a:lnSpc>
                <a:spcPct val="115000"/>
              </a:lnSpc>
              <a:spcBef>
                <a:spcPts val="0"/>
              </a:spcBef>
              <a:spcAft>
                <a:spcPts val="0"/>
              </a:spcAft>
              <a:buNone/>
            </a:pPr>
            <a:r>
              <a:t/>
            </a:r>
            <a:endParaRPr b="1" sz="1500">
              <a:solidFill>
                <a:schemeClr val="dk1"/>
              </a:solidFill>
            </a:endParaRPr>
          </a:p>
          <a:p>
            <a:pPr indent="0" lvl="0" marL="0" rtl="0" algn="l">
              <a:lnSpc>
                <a:spcPct val="115000"/>
              </a:lnSpc>
              <a:spcBef>
                <a:spcPts val="0"/>
              </a:spcBef>
              <a:spcAft>
                <a:spcPts val="0"/>
              </a:spcAft>
              <a:buNone/>
            </a:pPr>
            <a:r>
              <a:rPr b="1" lang="en-US" sz="1500">
                <a:solidFill>
                  <a:schemeClr val="dk1"/>
                </a:solidFill>
              </a:rPr>
              <a:t>Overall, market changes over 2017–2025 were more closely linked to broader property market dynamics than to the Resale Portal itself.</a:t>
            </a:r>
            <a:endParaRPr b="1" sz="1500">
              <a:solidFill>
                <a:schemeClr val="dk1"/>
              </a:solidFill>
            </a:endParaRPr>
          </a:p>
        </p:txBody>
      </p:sp>
      <p:sp>
        <p:nvSpPr>
          <p:cNvPr id="177" name="Google Shape;177;g3f5596b38c6_3_9"/>
          <p:cNvSpPr txBox="1"/>
          <p:nvPr/>
        </p:nvSpPr>
        <p:spPr>
          <a:xfrm>
            <a:off x="579625" y="1520825"/>
            <a:ext cx="105834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a:solidFill>
                  <a:schemeClr val="dk1"/>
                </a:solidFill>
              </a:rPr>
              <a:t>Summary:</a:t>
            </a:r>
            <a:r>
              <a:rPr lang="en-US">
                <a:solidFill>
                  <a:schemeClr val="dk1"/>
                </a:solidFill>
              </a:rPr>
              <a:t> The HDB resale market has changed substantially since 2017, but the evidence suggests these changes were driven primarily by broader market forces rather than the Resale Portal. This section examines how prices, transaction patterns, self-service adoption, and the agent industry have evolved over the past nine years to distinguish portal-related effects from wider market trends.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