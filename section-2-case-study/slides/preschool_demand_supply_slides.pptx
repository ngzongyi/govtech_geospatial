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i/uiwOdgzR5DvilS+tCtOjk7d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C45651-DEE7-4BCD-A208-FBDFB1AD0629}">
  <a:tblStyle styleId="{DAC45651-DEE7-4BCD-A208-FBDFB1AD062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5588f5b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f5588f5b1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5588f5b1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f5588f5b17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5588f5b1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f5588f5b17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5588f5b1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3f5588f5b17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5588f5b17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f5588f5b17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5588f5b17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f5588f5b17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5588f5b17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f5588f5b17_0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5588f5b17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f5588f5b17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5588f5b17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f5588f5b17_0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5588f5b17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f5588f5b17_0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5588f5b17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f5588f5b17_0_2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5588f5b17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f5588f5b17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55c5dc60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f55c5dc601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5588f5b17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f5588f5b17_0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5588f5b17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f5588f5b17_0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1792288" y="612775"/>
            <a:ext cx="5486400" cy="4114800"/>
          </a:xfrm>
          <a:prstGeom prst="rect">
            <a:avLst/>
          </a:prstGeom>
          <a:noFill/>
          <a:ln>
            <a:noFill/>
          </a:ln>
        </p:spPr>
      </p:sp>
      <p:sp>
        <p:nvSpPr>
          <p:cNvPr id="64" name="Google Shape;64;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B2E"/>
        </a:solidFill>
      </p:bgPr>
    </p:bg>
    <p:spTree>
      <p:nvGrpSpPr>
        <p:cNvPr id="83" name="Shape 83"/>
        <p:cNvGrpSpPr/>
        <p:nvPr/>
      </p:nvGrpSpPr>
      <p:grpSpPr>
        <a:xfrm>
          <a:off x="0" y="0"/>
          <a:ext cx="0" cy="0"/>
          <a:chOff x="0" y="0"/>
          <a:chExt cx="0" cy="0"/>
        </a:xfrm>
      </p:grpSpPr>
      <p:sp>
        <p:nvSpPr>
          <p:cNvPr id="84" name="Google Shape;84;g3f5588f5b17_0_0"/>
          <p:cNvSpPr txBox="1"/>
          <p:nvPr/>
        </p:nvSpPr>
        <p:spPr>
          <a:xfrm>
            <a:off x="822960" y="2514600"/>
            <a:ext cx="10515600" cy="20010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b="1" lang="en-US" sz="4000">
                <a:solidFill>
                  <a:srgbClr val="FFFFFF"/>
                </a:solidFill>
              </a:rPr>
              <a:t>Section 2 -</a:t>
            </a:r>
            <a:r>
              <a:rPr b="1" lang="en-US" sz="4000">
                <a:solidFill>
                  <a:srgbClr val="FFFFFF"/>
                </a:solidFill>
              </a:rPr>
              <a:t> Demand Forecasting for Childcare Places</a:t>
            </a:r>
            <a:endParaRPr b="1" sz="4000">
              <a:solidFill>
                <a:srgbClr val="FFFFFF"/>
              </a:solidFill>
            </a:endParaRPr>
          </a:p>
          <a:p>
            <a:pPr indent="0" lvl="0" marL="0" marR="0" rtl="0" algn="l">
              <a:lnSpc>
                <a:spcPct val="105000"/>
              </a:lnSpc>
              <a:spcBef>
                <a:spcPts val="0"/>
              </a:spcBef>
              <a:spcAft>
                <a:spcPts val="0"/>
              </a:spcAft>
              <a:buNone/>
            </a:pPr>
            <a:r>
              <a:t/>
            </a:r>
            <a:endParaRPr b="1" sz="4000">
              <a:solidFill>
                <a:srgbClr val="FFFFFF"/>
              </a:solidFill>
            </a:endParaRPr>
          </a:p>
        </p:txBody>
      </p:sp>
      <p:sp>
        <p:nvSpPr>
          <p:cNvPr id="85" name="Google Shape;85;g3f5588f5b17_0_0"/>
          <p:cNvSpPr txBox="1"/>
          <p:nvPr/>
        </p:nvSpPr>
        <p:spPr>
          <a:xfrm>
            <a:off x="822960" y="6035040"/>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g3f5588f5b17_0_81"/>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2166AC"/>
                </a:solidFill>
                <a:latin typeface="Arial"/>
                <a:ea typeface="Arial"/>
                <a:cs typeface="Arial"/>
                <a:sym typeface="Arial"/>
              </a:rPr>
              <a:t>FRAMING THE QUESTION</a:t>
            </a:r>
            <a:endParaRPr/>
          </a:p>
        </p:txBody>
      </p:sp>
      <p:sp>
        <p:nvSpPr>
          <p:cNvPr id="91" name="Google Shape;91;g3f5588f5b17_0_81"/>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Problem Statement: Where Should Future Childcare Capacity Be Built? </a:t>
            </a:r>
            <a:endParaRPr b="1" sz="2500">
              <a:solidFill>
                <a:srgbClr val="222222"/>
              </a:solidFill>
            </a:endParaRPr>
          </a:p>
        </p:txBody>
      </p:sp>
      <p:cxnSp>
        <p:nvCxnSpPr>
          <p:cNvPr id="92" name="Google Shape;92;g3f5588f5b17_0_81"/>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93" name="Google Shape;93;g3f5588f5b17_0_81"/>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graphicFrame>
        <p:nvGraphicFramePr>
          <p:cNvPr id="94" name="Google Shape;94;g3f5588f5b17_0_81"/>
          <p:cNvGraphicFramePr/>
          <p:nvPr/>
        </p:nvGraphicFramePr>
        <p:xfrm>
          <a:off x="1306500" y="3094450"/>
          <a:ext cx="3000000" cy="3000000"/>
        </p:xfrm>
        <a:graphic>
          <a:graphicData uri="http://schemas.openxmlformats.org/drawingml/2006/table">
            <a:tbl>
              <a:tblPr>
                <a:noFill/>
                <a:tableStyleId>{DAC45651-DEE7-4BCD-A208-FBDFB1AD0629}</a:tableStyleId>
              </a:tblPr>
              <a:tblGrid>
                <a:gridCol w="618475"/>
                <a:gridCol w="3207900"/>
                <a:gridCol w="5181575"/>
              </a:tblGrid>
              <a:tr h="200025">
                <a:tc>
                  <a:txBody>
                    <a:bodyPr/>
                    <a:lstStyle/>
                    <a:p>
                      <a:pPr indent="0" lvl="0" marL="0" rtl="0" algn="ctr">
                        <a:lnSpc>
                          <a:spcPct val="115000"/>
                        </a:lnSpc>
                        <a:spcBef>
                          <a:spcPts val="0"/>
                        </a:spcBef>
                        <a:spcAft>
                          <a:spcPts val="0"/>
                        </a:spcAft>
                        <a:buNone/>
                      </a:pPr>
                      <a:r>
                        <a:rPr b="1" lang="en-US" sz="1200"/>
                        <a:t>#</a:t>
                      </a:r>
                      <a:endParaRPr b="1"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Hypothesis</a:t>
                      </a:r>
                      <a:endParaRPr b="1"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Supporting Evidence</a:t>
                      </a:r>
                      <a:endParaRPr b="1"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200"/>
                        <a:t>H1</a:t>
                      </a:r>
                      <a:endParaRPr b="1"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t>The childcare shortage is driven by spatial misallocation, not an overall national capacity shortage.</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t>Large variation in demand–supply gaps across subzones despite adequate national capacity.</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200"/>
                        <a:t>H2</a:t>
                      </a:r>
                      <a:endParaRPr b="1"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t>BTO completions are a leading indicator of future childcare shortages.</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t>Subzones with large BTO pipelines experience the fastest growth in childcare demand and the largest projected shortages.</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US" sz="1200"/>
                        <a:t>H3</a:t>
                      </a:r>
                      <a:endParaRPr b="1"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t>Falling fertility will reduce demand in mature, non-BTO estates.</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t>Mature estates with limited BTO activity show stable or declining child populations, making them potential candidates for capacity reallocation.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5" name="Google Shape;95;g3f5588f5b17_0_81"/>
          <p:cNvSpPr txBox="1"/>
          <p:nvPr/>
        </p:nvSpPr>
        <p:spPr>
          <a:xfrm>
            <a:off x="596450" y="1210300"/>
            <a:ext cx="10308600" cy="162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a:t>Hypotheses</a:t>
            </a:r>
            <a:endParaRPr b="1"/>
          </a:p>
          <a:p>
            <a:pPr indent="0" lvl="0" marL="0" rtl="0" algn="l">
              <a:lnSpc>
                <a:spcPct val="115000"/>
              </a:lnSpc>
              <a:spcBef>
                <a:spcPts val="1200"/>
              </a:spcBef>
              <a:spcAft>
                <a:spcPts val="0"/>
              </a:spcAft>
              <a:buNone/>
            </a:pPr>
            <a:r>
              <a:rPr lang="en-US" sz="1200"/>
              <a:t>The analysis is built around three testable hypotheses, each evaluated against the evidence in Section 8.</a:t>
            </a:r>
            <a:endParaRPr sz="1200"/>
          </a:p>
          <a:p>
            <a:pPr indent="0" lvl="0" marL="0" rtl="0" algn="l">
              <a:lnSpc>
                <a:spcPct val="115000"/>
              </a:lnSpc>
              <a:spcBef>
                <a:spcPts val="1200"/>
              </a:spcBef>
              <a:spcAft>
                <a:spcPts val="1200"/>
              </a:spcAft>
              <a:buNone/>
            </a:pPr>
            <a:r>
              <a:rPr lang="en-US" sz="1200"/>
              <a:t>If these hypotheses hold, the recommendations naturally separate into two strategies: </a:t>
            </a:r>
            <a:r>
              <a:rPr b="1" lang="en-US" sz="1200"/>
              <a:t>build new capacity</a:t>
            </a:r>
            <a:r>
              <a:rPr lang="en-US" sz="1200"/>
              <a:t> in high-growth BTO areas and </a:t>
            </a:r>
            <a:r>
              <a:rPr b="1" lang="en-US" sz="1200"/>
              <a:t>relocate or right-size capacity</a:t>
            </a:r>
            <a:r>
              <a:rPr lang="en-US" sz="1200"/>
              <a:t> in mature estates with declining demand.</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g3f5588f5b17_0_169"/>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2166AC"/>
                </a:solidFill>
                <a:latin typeface="Arial"/>
                <a:ea typeface="Arial"/>
                <a:cs typeface="Arial"/>
                <a:sym typeface="Arial"/>
              </a:rPr>
              <a:t>FRAMING THE QUESTION</a:t>
            </a:r>
            <a:endParaRPr/>
          </a:p>
        </p:txBody>
      </p:sp>
      <p:sp>
        <p:nvSpPr>
          <p:cNvPr id="101" name="Google Shape;101;g3f5588f5b17_0_169"/>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Is Shortage due to misallocation or overall </a:t>
            </a:r>
            <a:r>
              <a:rPr b="1" lang="en-US" sz="2500">
                <a:solidFill>
                  <a:srgbClr val="222222"/>
                </a:solidFill>
              </a:rPr>
              <a:t>capacity</a:t>
            </a:r>
            <a:r>
              <a:rPr b="1" lang="en-US" sz="2500">
                <a:solidFill>
                  <a:srgbClr val="222222"/>
                </a:solidFill>
              </a:rPr>
              <a:t> shortage</a:t>
            </a:r>
            <a:r>
              <a:rPr b="1" lang="en-US" sz="2500">
                <a:solidFill>
                  <a:srgbClr val="222222"/>
                </a:solidFill>
              </a:rPr>
              <a:t>? </a:t>
            </a:r>
            <a:endParaRPr b="1" sz="2500">
              <a:solidFill>
                <a:srgbClr val="222222"/>
              </a:solidFill>
            </a:endParaRPr>
          </a:p>
        </p:txBody>
      </p:sp>
      <p:cxnSp>
        <p:nvCxnSpPr>
          <p:cNvPr id="102" name="Google Shape;102;g3f5588f5b17_0_169"/>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03" name="Google Shape;103;g3f5588f5b17_0_169"/>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104" name="Google Shape;104;g3f5588f5b17_0_169" title="01_national_places_vs_enrolment.png"/>
          <p:cNvPicPr preferRelativeResize="0"/>
          <p:nvPr/>
        </p:nvPicPr>
        <p:blipFill>
          <a:blip r:embed="rId3">
            <a:alphaModFix/>
          </a:blip>
          <a:stretch>
            <a:fillRect/>
          </a:stretch>
        </p:blipFill>
        <p:spPr>
          <a:xfrm>
            <a:off x="337600" y="1828937"/>
            <a:ext cx="8007275" cy="3940375"/>
          </a:xfrm>
          <a:prstGeom prst="rect">
            <a:avLst/>
          </a:prstGeom>
          <a:noFill/>
          <a:ln>
            <a:noFill/>
          </a:ln>
        </p:spPr>
      </p:pic>
      <p:sp>
        <p:nvSpPr>
          <p:cNvPr id="105" name="Google Shape;105;g3f5588f5b17_0_169"/>
          <p:cNvSpPr txBox="1"/>
          <p:nvPr/>
        </p:nvSpPr>
        <p:spPr>
          <a:xfrm>
            <a:off x="8542625" y="1630875"/>
            <a:ext cx="3482100" cy="5108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National childcare utilisation has remained below ~80%, suggesting Singapore's challenge is not an overall shortage of childcare places.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The issue is likely a geographic mismatch between where childcare capacity exists and where demand is concentrated, shifting the focus from building more centres to placing them in the right locations.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This validates that hypothesis by identifying regional demand–supply gaps and assessing whether observed cases (</a:t>
            </a:r>
            <a:r>
              <a:rPr lang="en-US">
                <a:solidFill>
                  <a:srgbClr val="1A1F29"/>
                </a:solidFill>
              </a:rPr>
              <a:t>*The Big Read* illustrates it with named estates (Punggol acute, Tiong Bahru comfortable)</a:t>
            </a:r>
            <a:r>
              <a:rPr lang="en-US">
                <a:solidFill>
                  <a:schemeClr val="dk1"/>
                </a:solidFill>
              </a:rPr>
              <a:t>) are reflected in the data.</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g3f5588f5b17_0_182"/>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2166AC"/>
                </a:solidFill>
                <a:latin typeface="Arial"/>
                <a:ea typeface="Arial"/>
                <a:cs typeface="Arial"/>
                <a:sym typeface="Arial"/>
              </a:rPr>
              <a:t>FRAMING THE QUESTION</a:t>
            </a:r>
            <a:endParaRPr/>
          </a:p>
        </p:txBody>
      </p:sp>
      <p:sp>
        <p:nvSpPr>
          <p:cNvPr id="111" name="Google Shape;111;g3f5588f5b17_0_182"/>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Where are the Shortages</a:t>
            </a:r>
            <a:r>
              <a:rPr b="1" lang="en-US" sz="2500">
                <a:solidFill>
                  <a:srgbClr val="222222"/>
                </a:solidFill>
              </a:rPr>
              <a:t>? </a:t>
            </a:r>
            <a:endParaRPr b="1" sz="2500">
              <a:solidFill>
                <a:srgbClr val="222222"/>
              </a:solidFill>
            </a:endParaRPr>
          </a:p>
        </p:txBody>
      </p:sp>
      <p:cxnSp>
        <p:nvCxnSpPr>
          <p:cNvPr id="112" name="Google Shape;112;g3f5588f5b17_0_182"/>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13" name="Google Shape;113;g3f5588f5b17_0_182"/>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114" name="Google Shape;114;g3f5588f5b17_0_182" title="12_regional_fullness.png"/>
          <p:cNvPicPr preferRelativeResize="0"/>
          <p:nvPr/>
        </p:nvPicPr>
        <p:blipFill>
          <a:blip r:embed="rId3">
            <a:alphaModFix/>
          </a:blip>
          <a:stretch>
            <a:fillRect/>
          </a:stretch>
        </p:blipFill>
        <p:spPr>
          <a:xfrm>
            <a:off x="548650" y="1306942"/>
            <a:ext cx="5739316" cy="5095857"/>
          </a:xfrm>
          <a:prstGeom prst="rect">
            <a:avLst/>
          </a:prstGeom>
          <a:noFill/>
          <a:ln>
            <a:noFill/>
          </a:ln>
        </p:spPr>
      </p:pic>
      <p:sp>
        <p:nvSpPr>
          <p:cNvPr id="115" name="Google Shape;115;g3f5588f5b17_0_182"/>
          <p:cNvSpPr txBox="1"/>
          <p:nvPr/>
        </p:nvSpPr>
        <p:spPr>
          <a:xfrm>
            <a:off x="6804250" y="2031125"/>
            <a:ext cx="5065200" cy="3201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AutoNum type="arabicPeriod"/>
            </a:pPr>
            <a:r>
              <a:rPr lang="en-US">
                <a:solidFill>
                  <a:schemeClr val="dk1"/>
                </a:solidFill>
              </a:rPr>
              <a:t>The highest childcare occupancy is concentrated in mature, central estates such as Marine Parade, Singapore River, River Valley, Bukit Timah, and Toa Payoh.</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AutoNum type="arabicPeriod"/>
            </a:pPr>
            <a:r>
              <a:rPr lang="en-US">
                <a:solidFill>
                  <a:schemeClr val="dk1"/>
                </a:solidFill>
              </a:rPr>
              <a:t>Newer BTO towns such as Punggol, Tengah, Sengkang, and Bukit Batok are not the most capacity-constrained today, despite their projected demand growth.</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AutoNum type="arabicPeriod"/>
            </a:pPr>
            <a:r>
              <a:rPr lang="en-US">
                <a:solidFill>
                  <a:schemeClr val="dk1"/>
                </a:solidFill>
              </a:rPr>
              <a:t>These findings suggest different intervention strategies: expand capacity in fast-growing towns while addressing oversubscribed centres in mature estates through targeted expansion.</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g3f5588f5b17_0_210"/>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2166AC"/>
                </a:solidFill>
                <a:latin typeface="Arial"/>
                <a:ea typeface="Arial"/>
                <a:cs typeface="Arial"/>
                <a:sym typeface="Arial"/>
              </a:rPr>
              <a:t>FRAMING THE QUESTION</a:t>
            </a:r>
            <a:endParaRPr/>
          </a:p>
        </p:txBody>
      </p:sp>
      <p:sp>
        <p:nvSpPr>
          <p:cNvPr id="121" name="Google Shape;121;g3f5588f5b17_0_210"/>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Falling fertility will reduce demand in mature, non-BTO estates? </a:t>
            </a:r>
            <a:endParaRPr b="1" sz="2500">
              <a:solidFill>
                <a:srgbClr val="222222"/>
              </a:solidFill>
            </a:endParaRPr>
          </a:p>
        </p:txBody>
      </p:sp>
      <p:cxnSp>
        <p:nvCxnSpPr>
          <p:cNvPr id="122" name="Google Shape;122;g3f5588f5b17_0_210"/>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23" name="Google Shape;123;g3f5588f5b17_0_210"/>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124" name="Google Shape;124;g3f5588f5b17_0_210" title="02_national_age_trend_and_tfr.png"/>
          <p:cNvPicPr preferRelativeResize="0"/>
          <p:nvPr/>
        </p:nvPicPr>
        <p:blipFill>
          <a:blip r:embed="rId3">
            <a:alphaModFix/>
          </a:blip>
          <a:stretch>
            <a:fillRect/>
          </a:stretch>
        </p:blipFill>
        <p:spPr>
          <a:xfrm>
            <a:off x="1347688" y="1263150"/>
            <a:ext cx="9496302" cy="3501725"/>
          </a:xfrm>
          <a:prstGeom prst="rect">
            <a:avLst/>
          </a:prstGeom>
          <a:noFill/>
          <a:ln>
            <a:noFill/>
          </a:ln>
        </p:spPr>
      </p:pic>
      <p:sp>
        <p:nvSpPr>
          <p:cNvPr id="125" name="Google Shape;125;g3f5588f5b17_0_210"/>
          <p:cNvSpPr txBox="1"/>
          <p:nvPr/>
        </p:nvSpPr>
        <p:spPr>
          <a:xfrm>
            <a:off x="1302300" y="5203250"/>
            <a:ext cx="945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The national 0–4 child population has been declining in line with falling fertility rates, providing the baseline for understanding future childcare demand across subzones.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g3f5588f5b17_0_197"/>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2166AC"/>
                </a:solidFill>
                <a:latin typeface="Arial"/>
                <a:ea typeface="Arial"/>
                <a:cs typeface="Arial"/>
                <a:sym typeface="Arial"/>
              </a:rPr>
              <a:t>FRAMING THE QUESTION</a:t>
            </a:r>
            <a:endParaRPr/>
          </a:p>
        </p:txBody>
      </p:sp>
      <p:sp>
        <p:nvSpPr>
          <p:cNvPr id="131" name="Google Shape;131;g3f5588f5b17_0_197"/>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BTO Forecast and its </a:t>
            </a:r>
            <a:r>
              <a:rPr b="1" lang="en-US" sz="2500">
                <a:solidFill>
                  <a:srgbClr val="222222"/>
                </a:solidFill>
              </a:rPr>
              <a:t>impact to Childcare Demand</a:t>
            </a:r>
            <a:r>
              <a:rPr b="1" lang="en-US" sz="2500">
                <a:solidFill>
                  <a:srgbClr val="222222"/>
                </a:solidFill>
              </a:rPr>
              <a:t>? </a:t>
            </a:r>
            <a:endParaRPr b="1" sz="2500">
              <a:solidFill>
                <a:srgbClr val="222222"/>
              </a:solidFill>
            </a:endParaRPr>
          </a:p>
        </p:txBody>
      </p:sp>
      <p:cxnSp>
        <p:nvCxnSpPr>
          <p:cNvPr id="132" name="Google Shape;132;g3f5588f5b17_0_197"/>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33" name="Google Shape;133;g3f5588f5b17_0_197"/>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134" name="Google Shape;134;g3f5588f5b17_0_197" title="15_bto_pipeline_by_year.png"/>
          <p:cNvPicPr preferRelativeResize="0"/>
          <p:nvPr/>
        </p:nvPicPr>
        <p:blipFill>
          <a:blip r:embed="rId3">
            <a:alphaModFix/>
          </a:blip>
          <a:stretch>
            <a:fillRect/>
          </a:stretch>
        </p:blipFill>
        <p:spPr>
          <a:xfrm>
            <a:off x="291800" y="1465161"/>
            <a:ext cx="7610450" cy="3484800"/>
          </a:xfrm>
          <a:prstGeom prst="rect">
            <a:avLst/>
          </a:prstGeom>
          <a:noFill/>
          <a:ln>
            <a:noFill/>
          </a:ln>
        </p:spPr>
      </p:pic>
      <p:sp>
        <p:nvSpPr>
          <p:cNvPr id="135" name="Google Shape;135;g3f5588f5b17_0_197"/>
          <p:cNvSpPr txBox="1"/>
          <p:nvPr/>
        </p:nvSpPr>
        <p:spPr>
          <a:xfrm>
            <a:off x="8393275" y="1413761"/>
            <a:ext cx="3595800" cy="33864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AutoNum type="arabicPeriod"/>
            </a:pPr>
            <a:r>
              <a:rPr lang="en-US" sz="1300">
                <a:solidFill>
                  <a:schemeClr val="dk1"/>
                </a:solidFill>
              </a:rPr>
              <a:t>5.13% of Singapore's population falls within the 18-month to 6-year childcare age group (2020 Census).</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Applying this to a 3.2-person average BTO household gives a baseline of 0.164 childcare-age children per BTO unit.</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A 1.7× uplift is applied to reflect that BTO buyers are predominantly young, first-time families.</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Final assumption: </a:t>
            </a:r>
            <a:r>
              <a:rPr b="1" lang="en-US" sz="1300">
                <a:solidFill>
                  <a:schemeClr val="dk1"/>
                </a:solidFill>
              </a:rPr>
              <a:t>0.28</a:t>
            </a:r>
            <a:r>
              <a:rPr lang="en-US" sz="1300">
                <a:solidFill>
                  <a:schemeClr val="dk1"/>
                </a:solidFill>
              </a:rPr>
              <a:t> childcare-age children per BTO unit, used throughout the demand forecast.</a:t>
            </a:r>
            <a:endParaRPr sz="1300">
              <a:solidFill>
                <a:schemeClr val="dk1"/>
              </a:solidFill>
            </a:endParaRPr>
          </a:p>
        </p:txBody>
      </p:sp>
      <p:sp>
        <p:nvSpPr>
          <p:cNvPr id="136" name="Google Shape;136;g3f5588f5b17_0_197"/>
          <p:cNvSpPr txBox="1"/>
          <p:nvPr/>
        </p:nvSpPr>
        <p:spPr>
          <a:xfrm>
            <a:off x="578525" y="5089725"/>
            <a:ext cx="10549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66% of the BTO pipeline (121,419 units) has already been completed, contributing an estimated ~34,000 additional childcare-age children beyond the 2020 Census baseline and justifying the BTO adjustment.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The remaining 61,840 units (2026–2031) are projected to add ~17,300 children, with demand phased in over time as projects are completed and occupied.</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g3f5588f5b17_0_220"/>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MODELLING THE FORECAST</a:t>
            </a:r>
            <a:endParaRPr/>
          </a:p>
        </p:txBody>
      </p:sp>
      <p:sp>
        <p:nvSpPr>
          <p:cNvPr id="142" name="Google Shape;142;g3f5588f5b17_0_220"/>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Forecast Modelling</a:t>
            </a:r>
            <a:r>
              <a:rPr b="1" lang="en-US" sz="2500">
                <a:solidFill>
                  <a:srgbClr val="222222"/>
                </a:solidFill>
              </a:rPr>
              <a:t> </a:t>
            </a:r>
            <a:endParaRPr b="1" sz="2500">
              <a:solidFill>
                <a:srgbClr val="222222"/>
              </a:solidFill>
            </a:endParaRPr>
          </a:p>
        </p:txBody>
      </p:sp>
      <p:cxnSp>
        <p:nvCxnSpPr>
          <p:cNvPr id="143" name="Google Shape;143;g3f5588f5b17_0_220"/>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44" name="Google Shape;144;g3f5588f5b17_0_220"/>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145" name="Google Shape;145;g3f5588f5b17_0_220" title="14_forecast_model_structure.png"/>
          <p:cNvPicPr preferRelativeResize="0"/>
          <p:nvPr/>
        </p:nvPicPr>
        <p:blipFill>
          <a:blip r:embed="rId3">
            <a:alphaModFix/>
          </a:blip>
          <a:stretch>
            <a:fillRect/>
          </a:stretch>
        </p:blipFill>
        <p:spPr>
          <a:xfrm>
            <a:off x="864463" y="1461199"/>
            <a:ext cx="10432673" cy="2587074"/>
          </a:xfrm>
          <a:prstGeom prst="rect">
            <a:avLst/>
          </a:prstGeom>
          <a:noFill/>
          <a:ln>
            <a:noFill/>
          </a:ln>
        </p:spPr>
      </p:pic>
      <p:sp>
        <p:nvSpPr>
          <p:cNvPr id="146" name="Google Shape;146;g3f5588f5b17_0_220"/>
          <p:cNvSpPr txBox="1"/>
          <p:nvPr/>
        </p:nvSpPr>
        <p:spPr>
          <a:xfrm>
            <a:off x="339900" y="3847175"/>
            <a:ext cx="11589300" cy="2385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AutoNum type="arabicPeriod"/>
            </a:pPr>
            <a:r>
              <a:rPr lang="en-US" sz="1300">
                <a:solidFill>
                  <a:schemeClr val="dk1"/>
                </a:solidFill>
              </a:rPr>
              <a:t>Estimate the eligible childcare population (18 months–6 years) by assuming an even age distribution within Census age bands: 18 months–4 years = 3.5/5 (70%) of the 0–4 population, and 5–6 years = 2/5 (40%) of the 5–9 population.</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Estimate childcare demand by applying the 2020 national participation rate of 66%, calculated as 96,102 enrolled children ÷ 145,289 estimated eligible children, to convert the eligible population into expected enrolment.</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Project future demand by first aging the baseline population using national child population trends, then adding BTO-driven demand based on 0.28 childcare-age children per completed BTO unit, phased in according to project completion and occupancy.</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US" sz="1300">
                <a:solidFill>
                  <a:schemeClr val="dk1"/>
                </a:solidFill>
              </a:rPr>
              <a:t>Output: annual childcare demand estimates for every subzone from 2026–2031, which are compared against existing childcare supply to identify future shortages.</a:t>
            </a:r>
            <a:endParaRPr sz="13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g3f5588f5b17_0_249"/>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MODELLING THE FORECAST</a:t>
            </a:r>
            <a:endParaRPr/>
          </a:p>
        </p:txBody>
      </p:sp>
      <p:sp>
        <p:nvSpPr>
          <p:cNvPr id="152" name="Google Shape;152;g3f5588f5b17_0_249"/>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Forecast Modelling </a:t>
            </a:r>
            <a:endParaRPr b="1" sz="2500">
              <a:solidFill>
                <a:srgbClr val="222222"/>
              </a:solidFill>
            </a:endParaRPr>
          </a:p>
        </p:txBody>
      </p:sp>
      <p:cxnSp>
        <p:nvCxnSpPr>
          <p:cNvPr id="153" name="Google Shape;153;g3f5588f5b17_0_249"/>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54" name="Google Shape;154;g3f5588f5b17_0_249"/>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55" name="Google Shape;155;g3f5588f5b17_0_249"/>
          <p:cNvSpPr txBox="1"/>
          <p:nvPr/>
        </p:nvSpPr>
        <p:spPr>
          <a:xfrm>
            <a:off x="406250" y="1351425"/>
            <a:ext cx="992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Aging forward + BTO: how national demand actually moves</a:t>
            </a:r>
            <a:endParaRPr b="1"/>
          </a:p>
        </p:txBody>
      </p:sp>
      <p:pic>
        <p:nvPicPr>
          <p:cNvPr id="156" name="Google Shape;156;g3f5588f5b17_0_249"/>
          <p:cNvPicPr preferRelativeResize="0"/>
          <p:nvPr/>
        </p:nvPicPr>
        <p:blipFill>
          <a:blip r:embed="rId3">
            <a:alphaModFix/>
          </a:blip>
          <a:stretch>
            <a:fillRect/>
          </a:stretch>
        </p:blipFill>
        <p:spPr>
          <a:xfrm>
            <a:off x="484825" y="2004250"/>
            <a:ext cx="7908850" cy="4098651"/>
          </a:xfrm>
          <a:prstGeom prst="rect">
            <a:avLst/>
          </a:prstGeom>
          <a:noFill/>
          <a:ln>
            <a:noFill/>
          </a:ln>
        </p:spPr>
      </p:pic>
      <p:sp>
        <p:nvSpPr>
          <p:cNvPr id="157" name="Google Shape;157;g3f5588f5b17_0_249"/>
          <p:cNvSpPr txBox="1"/>
          <p:nvPr/>
        </p:nvSpPr>
        <p:spPr>
          <a:xfrm>
            <a:off x="8435100" y="2180450"/>
            <a:ext cx="3434400" cy="2986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b="1" lang="en-US"/>
              <a:t>Organic</a:t>
            </a:r>
            <a:r>
              <a:rPr lang="en-US"/>
              <a:t>: national 0-4/5-9 trend aged forward from 2020 — tracking the fertility decline.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b="1" lang="en-US"/>
              <a:t>+ BTO-driven</a:t>
            </a:r>
            <a:r>
              <a:rPr lang="en-US"/>
              <a:t>: each project phases in gradually — half-weight in its completion year, full from the year after. Not switched on overnight.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b="1" lang="en-US"/>
              <a:t>Net</a:t>
            </a:r>
            <a:r>
              <a:rPr lang="en-US"/>
              <a:t>: BTO growth more than offsets the fertility decline — a modest +5% national rise, 2026→2031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g3f5588f5b17_0_274"/>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GAPS</a:t>
            </a:r>
            <a:endParaRPr/>
          </a:p>
        </p:txBody>
      </p:sp>
      <p:sp>
        <p:nvSpPr>
          <p:cNvPr id="163" name="Google Shape;163;g3f5588f5b17_0_274"/>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Gap Analysis &amp; Prioritization</a:t>
            </a:r>
            <a:endParaRPr b="1" sz="2500">
              <a:solidFill>
                <a:srgbClr val="222222"/>
              </a:solidFill>
            </a:endParaRPr>
          </a:p>
        </p:txBody>
      </p:sp>
      <p:cxnSp>
        <p:nvCxnSpPr>
          <p:cNvPr id="164" name="Google Shape;164;g3f5588f5b17_0_274"/>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65" name="Google Shape;165;g3f5588f5b17_0_274"/>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166" name="Google Shape;166;g3f5588f5b17_0_274" title="18_gap_by_planning_area.png"/>
          <p:cNvPicPr preferRelativeResize="0"/>
          <p:nvPr/>
        </p:nvPicPr>
        <p:blipFill>
          <a:blip r:embed="rId3">
            <a:alphaModFix/>
          </a:blip>
          <a:stretch>
            <a:fillRect/>
          </a:stretch>
        </p:blipFill>
        <p:spPr>
          <a:xfrm>
            <a:off x="430950" y="1306942"/>
            <a:ext cx="7717842" cy="5095857"/>
          </a:xfrm>
          <a:prstGeom prst="rect">
            <a:avLst/>
          </a:prstGeom>
          <a:noFill/>
          <a:ln>
            <a:noFill/>
          </a:ln>
        </p:spPr>
      </p:pic>
      <p:sp>
        <p:nvSpPr>
          <p:cNvPr id="167" name="Google Shape;167;g3f5588f5b17_0_274"/>
          <p:cNvSpPr txBox="1"/>
          <p:nvPr/>
        </p:nvSpPr>
        <p:spPr>
          <a:xfrm>
            <a:off x="8363425" y="1780225"/>
            <a:ext cx="3553800" cy="3909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b="1" lang="en-US" sz="1100">
                <a:solidFill>
                  <a:schemeClr val="dk1"/>
                </a:solidFill>
              </a:rPr>
              <a:t>Only 10 of 44 Planning Areas are projected to face a net childcare deficit by 2031</a:t>
            </a:r>
            <a:r>
              <a:rPr lang="en-US" sz="1100">
                <a:solidFill>
                  <a:schemeClr val="dk1"/>
                </a:solidFill>
              </a:rPr>
              <a:t>, compared with </a:t>
            </a:r>
            <a:r>
              <a:rPr b="1" lang="en-US" sz="1100">
                <a:solidFill>
                  <a:schemeClr val="dk1"/>
                </a:solidFill>
              </a:rPr>
              <a:t>89 deficit subzones</a:t>
            </a:r>
            <a:r>
              <a:rPr lang="en-US" sz="1100">
                <a:solidFill>
                  <a:schemeClr val="dk1"/>
                </a:solidFill>
              </a:rPr>
              <a:t>, as local surpluses and deficits offset each other when aggregated.</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US" sz="1100">
                <a:solidFill>
                  <a:schemeClr val="dk1"/>
                </a:solidFill>
              </a:rPr>
              <a:t>This shows that childcare shortages are primarily a subzone-level issue</a:t>
            </a:r>
            <a:r>
              <a:rPr lang="en-US" sz="1100">
                <a:solidFill>
                  <a:schemeClr val="dk1"/>
                </a:solidFill>
              </a:rPr>
              <a:t>, with underserved subzones often hidden within Planning Areas that appear adequately served overall.</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US" sz="1100">
                <a:solidFill>
                  <a:schemeClr val="dk1"/>
                </a:solidFill>
              </a:rPr>
              <a:t>Punggol records the largest projected net deficit (+5,182 children)</a:t>
            </a:r>
            <a:r>
              <a:rPr lang="en-US" sz="1100">
                <a:solidFill>
                  <a:schemeClr val="dk1"/>
                </a:solidFill>
              </a:rPr>
              <a:t>, consistent with its large BTO pipeline and rapidly growing young-family population.</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US" sz="1100">
                <a:solidFill>
                  <a:schemeClr val="dk1"/>
                </a:solidFill>
              </a:rPr>
              <a:t>Serangoon records the largest projected net surplus (−2,852 children)</a:t>
            </a:r>
            <a:r>
              <a:rPr lang="en-US" sz="1100">
                <a:solidFill>
                  <a:schemeClr val="dk1"/>
                </a:solidFill>
              </a:rPr>
              <a:t>, making it a strong candidate for future capacity optimisation or relocation as demand shifts over time.</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pic>
        <p:nvPicPr>
          <p:cNvPr id="172" name="Google Shape;172;g3f5588f5b17_0_258" title="06_gap_quadrant_2026_vs_2031.png"/>
          <p:cNvPicPr preferRelativeResize="0"/>
          <p:nvPr/>
        </p:nvPicPr>
        <p:blipFill>
          <a:blip r:embed="rId3">
            <a:alphaModFix/>
          </a:blip>
          <a:stretch>
            <a:fillRect/>
          </a:stretch>
        </p:blipFill>
        <p:spPr>
          <a:xfrm>
            <a:off x="157125" y="1260957"/>
            <a:ext cx="5183558" cy="5187837"/>
          </a:xfrm>
          <a:prstGeom prst="rect">
            <a:avLst/>
          </a:prstGeom>
          <a:noFill/>
          <a:ln>
            <a:noFill/>
          </a:ln>
        </p:spPr>
      </p:pic>
      <p:sp>
        <p:nvSpPr>
          <p:cNvPr id="173" name="Google Shape;173;g3f5588f5b17_0_258"/>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GAPS</a:t>
            </a:r>
            <a:endParaRPr/>
          </a:p>
        </p:txBody>
      </p:sp>
      <p:sp>
        <p:nvSpPr>
          <p:cNvPr id="174" name="Google Shape;174;g3f5588f5b17_0_258"/>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Gap Analysis &amp; Prioritization</a:t>
            </a:r>
            <a:endParaRPr b="1" sz="2500">
              <a:solidFill>
                <a:srgbClr val="222222"/>
              </a:solidFill>
            </a:endParaRPr>
          </a:p>
        </p:txBody>
      </p:sp>
      <p:cxnSp>
        <p:nvCxnSpPr>
          <p:cNvPr id="175" name="Google Shape;175;g3f5588f5b17_0_258"/>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76" name="Google Shape;176;g3f5588f5b17_0_258"/>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77" name="Google Shape;177;g3f5588f5b17_0_258"/>
          <p:cNvSpPr txBox="1"/>
          <p:nvPr/>
        </p:nvSpPr>
        <p:spPr>
          <a:xfrm>
            <a:off x="2980650" y="4161200"/>
            <a:ext cx="2204100" cy="17085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SzPts val="900"/>
              <a:buAutoNum type="arabicPeriod"/>
            </a:pPr>
            <a:r>
              <a:rPr b="1" lang="en-US" sz="900"/>
              <a:t>Urgent </a:t>
            </a:r>
            <a:r>
              <a:rPr lang="en-US" sz="900"/>
              <a:t>(75): deficit today.</a:t>
            </a:r>
            <a:endParaRPr sz="900"/>
          </a:p>
          <a:p>
            <a:pPr indent="0" lvl="0" marL="457200" rtl="0" algn="l">
              <a:spcBef>
                <a:spcPts val="0"/>
              </a:spcBef>
              <a:spcAft>
                <a:spcPts val="0"/>
              </a:spcAft>
              <a:buNone/>
            </a:pPr>
            <a:r>
              <a:t/>
            </a:r>
            <a:endParaRPr sz="900"/>
          </a:p>
          <a:p>
            <a:pPr indent="-285750" lvl="0" marL="457200" rtl="0" algn="l">
              <a:spcBef>
                <a:spcPts val="0"/>
              </a:spcBef>
              <a:spcAft>
                <a:spcPts val="0"/>
              </a:spcAft>
              <a:buSzPts val="900"/>
              <a:buAutoNum type="arabicPeriod"/>
            </a:pPr>
            <a:r>
              <a:rPr b="1" lang="en-US" sz="900"/>
              <a:t>Emerging </a:t>
            </a:r>
            <a:r>
              <a:rPr lang="en-US" sz="900"/>
              <a:t>(18): fine today, deficit by 2031 — 100% have an active BTO pipeline.</a:t>
            </a:r>
            <a:endParaRPr sz="900"/>
          </a:p>
          <a:p>
            <a:pPr indent="0" lvl="0" marL="457200" rtl="0" algn="l">
              <a:spcBef>
                <a:spcPts val="0"/>
              </a:spcBef>
              <a:spcAft>
                <a:spcPts val="0"/>
              </a:spcAft>
              <a:buNone/>
            </a:pPr>
            <a:r>
              <a:t/>
            </a:r>
            <a:endParaRPr sz="900"/>
          </a:p>
          <a:p>
            <a:pPr indent="-285750" lvl="0" marL="457200" rtl="0" algn="l">
              <a:spcBef>
                <a:spcPts val="0"/>
              </a:spcBef>
              <a:spcAft>
                <a:spcPts val="0"/>
              </a:spcAft>
              <a:buSzPts val="900"/>
              <a:buAutoNum type="arabicPeriod"/>
            </a:pPr>
            <a:r>
              <a:rPr b="1" lang="en-US" sz="900"/>
              <a:t>Relocation candidates </a:t>
            </a:r>
            <a:r>
              <a:rPr lang="en-US" sz="900"/>
              <a:t>(43): growing surplus, 79% with zero BTO activity.</a:t>
            </a:r>
            <a:endParaRPr sz="900"/>
          </a:p>
          <a:p>
            <a:pPr indent="0" lvl="0" marL="457200" rtl="0" algn="l">
              <a:spcBef>
                <a:spcPts val="0"/>
              </a:spcBef>
              <a:spcAft>
                <a:spcPts val="0"/>
              </a:spcAft>
              <a:buNone/>
            </a:pPr>
            <a:r>
              <a:t/>
            </a:r>
            <a:endParaRPr sz="900"/>
          </a:p>
          <a:p>
            <a:pPr indent="-285750" lvl="0" marL="457200" rtl="0" algn="l">
              <a:spcBef>
                <a:spcPts val="0"/>
              </a:spcBef>
              <a:spcAft>
                <a:spcPts val="0"/>
              </a:spcAft>
              <a:buSzPts val="900"/>
              <a:buAutoNum type="arabicPeriod"/>
            </a:pPr>
            <a:r>
              <a:rPr b="1" lang="en-US" sz="900"/>
              <a:t>Comfortable </a:t>
            </a:r>
            <a:r>
              <a:rPr lang="en-US" sz="900"/>
              <a:t>(196): the rest.</a:t>
            </a:r>
            <a:endParaRPr sz="900"/>
          </a:p>
        </p:txBody>
      </p:sp>
      <p:sp>
        <p:nvSpPr>
          <p:cNvPr id="178" name="Google Shape;178;g3f5588f5b17_0_258"/>
          <p:cNvSpPr txBox="1"/>
          <p:nvPr/>
        </p:nvSpPr>
        <p:spPr>
          <a:xfrm>
            <a:off x="5567650" y="1385900"/>
            <a:ext cx="6098700" cy="2986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AutoNum type="arabicPeriod"/>
            </a:pPr>
            <a:r>
              <a:rPr lang="en-US">
                <a:solidFill>
                  <a:schemeClr val="dk1"/>
                </a:solidFill>
              </a:rPr>
              <a:t>The chart compares each subzone's childcare gap today (x-axis) against its projected gap in 2031 (y-axis).</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AutoNum type="arabicPeriod"/>
            </a:pPr>
            <a:r>
              <a:rPr lang="en-US">
                <a:solidFill>
                  <a:schemeClr val="dk1"/>
                </a:solidFill>
              </a:rPr>
              <a:t>Subzones above the diagonal line are projected to see worsening shortages, while those below are expected to improve over time.</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AutoNum type="arabicPeriod"/>
            </a:pPr>
            <a:r>
              <a:rPr lang="en-US">
                <a:solidFill>
                  <a:schemeClr val="dk1"/>
                </a:solidFill>
              </a:rPr>
              <a:t>Existing deficit subzones (red) largely remain in deficit or deteriorate further, indicating persistent capacity shortfalls.</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AutoNum type="arabicPeriod"/>
            </a:pPr>
            <a:r>
              <a:rPr lang="en-US">
                <a:solidFill>
                  <a:schemeClr val="dk1"/>
                </a:solidFill>
              </a:rPr>
              <a:t>Emerging deficit subzones (orange) are currently well served but are projected to fall into deficit by 2031, largely driven by upcoming BTO completions, while relocation candidates (green) become increasingly surplus over time.</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g3f5588f5b17_0_294"/>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PRIORITIZATION</a:t>
            </a:r>
            <a:endParaRPr/>
          </a:p>
        </p:txBody>
      </p:sp>
      <p:sp>
        <p:nvSpPr>
          <p:cNvPr id="184" name="Google Shape;184;g3f5588f5b17_0_294"/>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List 1 — build or relocate priority</a:t>
            </a:r>
            <a:endParaRPr b="1" sz="2500">
              <a:solidFill>
                <a:srgbClr val="222222"/>
              </a:solidFill>
            </a:endParaRPr>
          </a:p>
        </p:txBody>
      </p:sp>
      <p:cxnSp>
        <p:nvCxnSpPr>
          <p:cNvPr id="185" name="Google Shape;185;g3f5588f5b17_0_294"/>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86" name="Google Shape;186;g3f5588f5b17_0_294"/>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graphicFrame>
        <p:nvGraphicFramePr>
          <p:cNvPr id="187" name="Google Shape;187;g3f5588f5b17_0_294"/>
          <p:cNvGraphicFramePr/>
          <p:nvPr/>
        </p:nvGraphicFramePr>
        <p:xfrm>
          <a:off x="548650" y="1422400"/>
          <a:ext cx="3000000" cy="3000000"/>
        </p:xfrm>
        <a:graphic>
          <a:graphicData uri="http://schemas.openxmlformats.org/drawingml/2006/table">
            <a:tbl>
              <a:tblPr>
                <a:noFill/>
                <a:tableStyleId>{DAC45651-DEE7-4BCD-A208-FBDFB1AD0629}</a:tableStyleId>
              </a:tblPr>
              <a:tblGrid>
                <a:gridCol w="1582425"/>
                <a:gridCol w="1394050"/>
                <a:gridCol w="1783375"/>
                <a:gridCol w="992150"/>
                <a:gridCol w="992150"/>
                <a:gridCol w="992150"/>
                <a:gridCol w="1612725"/>
                <a:gridCol w="1314675"/>
              </a:tblGrid>
              <a:tr h="257175">
                <a:tc>
                  <a:txBody>
                    <a:bodyPr/>
                    <a:lstStyle/>
                    <a:p>
                      <a:pPr indent="0" lvl="0" marL="0" rtl="0" algn="r">
                        <a:lnSpc>
                          <a:spcPct val="115000"/>
                        </a:lnSpc>
                        <a:spcBef>
                          <a:spcPts val="0"/>
                        </a:spcBef>
                        <a:spcAft>
                          <a:spcPts val="0"/>
                        </a:spcAft>
                        <a:buNone/>
                      </a:pPr>
                      <a:r>
                        <a:rPr b="1" lang="en-US" sz="1100">
                          <a:solidFill>
                            <a:schemeClr val="dk1"/>
                          </a:solidFill>
                        </a:rPr>
                        <a:t>subzone</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c>
                  <a:txBody>
                    <a:bodyPr/>
                    <a:lstStyle/>
                    <a:p>
                      <a:pPr indent="0" lvl="0" marL="0" rtl="0" algn="r">
                        <a:lnSpc>
                          <a:spcPct val="115000"/>
                        </a:lnSpc>
                        <a:spcBef>
                          <a:spcPts val="0"/>
                        </a:spcBef>
                        <a:spcAft>
                          <a:spcPts val="0"/>
                        </a:spcAft>
                        <a:buNone/>
                      </a:pPr>
                      <a:r>
                        <a:rPr b="1" lang="en-US" sz="1100">
                          <a:solidFill>
                            <a:schemeClr val="dk1"/>
                          </a:solidFill>
                        </a:rPr>
                        <a:t>planning_area</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c>
                  <a:txBody>
                    <a:bodyPr/>
                    <a:lstStyle/>
                    <a:p>
                      <a:pPr indent="0" lvl="0" marL="0" rtl="0" algn="r">
                        <a:lnSpc>
                          <a:spcPct val="115000"/>
                        </a:lnSpc>
                        <a:spcBef>
                          <a:spcPts val="0"/>
                        </a:spcBef>
                        <a:spcAft>
                          <a:spcPts val="0"/>
                        </a:spcAft>
                        <a:buNone/>
                      </a:pPr>
                      <a:r>
                        <a:rPr b="1" lang="en-US" sz="1100">
                          <a:solidFill>
                            <a:schemeClr val="dk1"/>
                          </a:solidFill>
                        </a:rPr>
                        <a:t>category</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c>
                  <a:txBody>
                    <a:bodyPr/>
                    <a:lstStyle/>
                    <a:p>
                      <a:pPr indent="0" lvl="0" marL="0" rtl="0" algn="r">
                        <a:lnSpc>
                          <a:spcPct val="115000"/>
                        </a:lnSpc>
                        <a:spcBef>
                          <a:spcPts val="0"/>
                        </a:spcBef>
                        <a:spcAft>
                          <a:spcPts val="0"/>
                        </a:spcAft>
                        <a:buNone/>
                      </a:pPr>
                      <a:r>
                        <a:rPr b="1" lang="en-US" sz="1050">
                          <a:solidFill>
                            <a:schemeClr val="dk1"/>
                          </a:solidFill>
                        </a:rPr>
                        <a:t>Centres Today</a:t>
                      </a:r>
                      <a:r>
                        <a:rPr b="1" lang="en-US" sz="1100">
                          <a:solidFill>
                            <a:schemeClr val="dk1"/>
                          </a:solidFill>
                        </a:rPr>
                        <a:t> </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c>
                  <a:txBody>
                    <a:bodyPr/>
                    <a:lstStyle/>
                    <a:p>
                      <a:pPr indent="0" lvl="0" marL="0" rtl="0" algn="r">
                        <a:lnSpc>
                          <a:spcPct val="115000"/>
                        </a:lnSpc>
                        <a:spcBef>
                          <a:spcPts val="0"/>
                        </a:spcBef>
                        <a:spcAft>
                          <a:spcPts val="0"/>
                        </a:spcAft>
                        <a:buNone/>
                      </a:pPr>
                      <a:r>
                        <a:rPr b="1" lang="en-US" sz="1050">
                          <a:solidFill>
                            <a:schemeClr val="dk1"/>
                          </a:solidFill>
                        </a:rPr>
                        <a:t>2026 Gap (children, + short / - surplus)</a:t>
                      </a:r>
                      <a:r>
                        <a:rPr b="1" lang="en-US" sz="1100">
                          <a:solidFill>
                            <a:schemeClr val="dk1"/>
                          </a:solidFill>
                        </a:rPr>
                        <a:t> </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c>
                  <a:txBody>
                    <a:bodyPr/>
                    <a:lstStyle/>
                    <a:p>
                      <a:pPr indent="0" lvl="0" marL="0" rtl="0" algn="r">
                        <a:lnSpc>
                          <a:spcPct val="115000"/>
                        </a:lnSpc>
                        <a:spcBef>
                          <a:spcPts val="0"/>
                        </a:spcBef>
                        <a:spcAft>
                          <a:spcPts val="0"/>
                        </a:spcAft>
                        <a:buClr>
                          <a:schemeClr val="dk1"/>
                        </a:buClr>
                        <a:buSzPts val="1100"/>
                        <a:buFont typeface="Arial"/>
                        <a:buNone/>
                      </a:pPr>
                      <a:r>
                        <a:rPr b="1" lang="en-US" sz="1050">
                          <a:solidFill>
                            <a:schemeClr val="dk1"/>
                          </a:solidFill>
                        </a:rPr>
                        <a:t>2031 Gap (children, + short / - surplus)</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c>
                  <a:txBody>
                    <a:bodyPr/>
                    <a:lstStyle/>
                    <a:p>
                      <a:pPr indent="0" lvl="0" marL="0" rtl="0" algn="r">
                        <a:lnSpc>
                          <a:spcPct val="115000"/>
                        </a:lnSpc>
                        <a:spcBef>
                          <a:spcPts val="0"/>
                        </a:spcBef>
                        <a:spcAft>
                          <a:spcPts val="0"/>
                        </a:spcAft>
                        <a:buNone/>
                      </a:pPr>
                      <a:r>
                        <a:rPr b="1" lang="en-US" sz="1100">
                          <a:solidFill>
                            <a:schemeClr val="dk1"/>
                          </a:solidFill>
                        </a:rPr>
                        <a:t>centres_needed_2031</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c>
                  <a:txBody>
                    <a:bodyPr/>
                    <a:lstStyle/>
                    <a:p>
                      <a:pPr indent="0" lvl="0" marL="0" rtl="0" algn="r">
                        <a:lnSpc>
                          <a:spcPct val="115000"/>
                        </a:lnSpc>
                        <a:spcBef>
                          <a:spcPts val="0"/>
                        </a:spcBef>
                        <a:spcAft>
                          <a:spcPts val="0"/>
                        </a:spcAft>
                        <a:buNone/>
                      </a:pPr>
                      <a:r>
                        <a:rPr b="1" lang="en-US" sz="1100">
                          <a:solidFill>
                            <a:schemeClr val="dk1"/>
                          </a:solidFill>
                        </a:rPr>
                        <a:t>bto_share_2031</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ECF4"/>
                    </a:solidFill>
                  </a:tcPr>
                </a:tc>
              </a:tr>
              <a:tr h="257175">
                <a:tc>
                  <a:txBody>
                    <a:bodyPr/>
                    <a:lstStyle/>
                    <a:p>
                      <a:pPr indent="0" lvl="0" marL="0" rtl="0" algn="r">
                        <a:lnSpc>
                          <a:spcPct val="115000"/>
                        </a:lnSpc>
                        <a:spcBef>
                          <a:spcPts val="0"/>
                        </a:spcBef>
                        <a:spcAft>
                          <a:spcPts val="0"/>
                        </a:spcAft>
                        <a:buNone/>
                      </a:pPr>
                      <a:r>
                        <a:rPr lang="en-US" sz="1100">
                          <a:solidFill>
                            <a:schemeClr val="dk1"/>
                          </a:solidFill>
                        </a:rPr>
                        <a:t>Brickworks</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Bukit Batok</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3073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3329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72%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Tampines North</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Tampines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2808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2766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Yishun East</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Yishun</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2575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2422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Matilda</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Punggol</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2070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2144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Fernvale</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Sengkang</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2281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2108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Plantation</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Tengah</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1346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1859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Lower Seletar</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Yishun</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689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1447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Waterway East</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Punggol</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1615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1419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Northshore</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Punggol</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1367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1366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Park</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Tengah</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1039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1317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Garden</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Tengah</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689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1271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Keat Hong</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Choa Chu Kang</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944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955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Sembawang East</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Sembawang</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1007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931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Woodlands West</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Woodlands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853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909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Woodlands South</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Woodlands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Urgent: deficit today</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677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778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g3f5588f5b17_0_305"/>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PRIORITIZATION</a:t>
            </a:r>
            <a:endParaRPr/>
          </a:p>
        </p:txBody>
      </p:sp>
      <p:sp>
        <p:nvSpPr>
          <p:cNvPr id="193" name="Google Shape;193;g3f5588f5b17_0_305"/>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List 2 — Relocation Candidates</a:t>
            </a:r>
            <a:endParaRPr b="1" sz="2500">
              <a:solidFill>
                <a:srgbClr val="222222"/>
              </a:solidFill>
            </a:endParaRPr>
          </a:p>
        </p:txBody>
      </p:sp>
      <p:cxnSp>
        <p:nvCxnSpPr>
          <p:cNvPr id="194" name="Google Shape;194;g3f5588f5b17_0_305"/>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95" name="Google Shape;195;g3f5588f5b17_0_305"/>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graphicFrame>
        <p:nvGraphicFramePr>
          <p:cNvPr id="196" name="Google Shape;196;g3f5588f5b17_0_305"/>
          <p:cNvGraphicFramePr/>
          <p:nvPr/>
        </p:nvGraphicFramePr>
        <p:xfrm>
          <a:off x="624350" y="1422400"/>
          <a:ext cx="3000000" cy="3000000"/>
        </p:xfrm>
        <a:graphic>
          <a:graphicData uri="http://schemas.openxmlformats.org/drawingml/2006/table">
            <a:tbl>
              <a:tblPr>
                <a:noFill/>
                <a:tableStyleId>{DAC45651-DEE7-4BCD-A208-FBDFB1AD0629}</a:tableStyleId>
              </a:tblPr>
              <a:tblGrid>
                <a:gridCol w="3169025"/>
                <a:gridCol w="2226350"/>
                <a:gridCol w="1584525"/>
                <a:gridCol w="1584525"/>
                <a:gridCol w="1644675"/>
                <a:gridCol w="882525"/>
              </a:tblGrid>
              <a:tr h="257175">
                <a:tc>
                  <a:txBody>
                    <a:bodyPr/>
                    <a:lstStyle/>
                    <a:p>
                      <a:pPr indent="0" lvl="0" marL="0" rtl="0" algn="r">
                        <a:lnSpc>
                          <a:spcPct val="115000"/>
                        </a:lnSpc>
                        <a:spcBef>
                          <a:spcPts val="0"/>
                        </a:spcBef>
                        <a:spcAft>
                          <a:spcPts val="0"/>
                        </a:spcAft>
                        <a:buNone/>
                      </a:pPr>
                      <a:r>
                        <a:rPr b="1" lang="en-US" sz="1100">
                          <a:solidFill>
                            <a:schemeClr val="dk1"/>
                          </a:solidFill>
                        </a:rPr>
                        <a:t>subzone</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100">
                          <a:solidFill>
                            <a:schemeClr val="dk1"/>
                          </a:solidFill>
                        </a:rPr>
                        <a:t>planning_area</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Centres Today</a:t>
                      </a:r>
                      <a:r>
                        <a:rPr b="1" lang="en-US" sz="1100">
                          <a:solidFill>
                            <a:schemeClr val="dk1"/>
                          </a:solidFill>
                        </a:rPr>
                        <a:t> </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2026 Gap (children, + short / - surplus)</a:t>
                      </a:r>
                      <a:r>
                        <a:rPr b="1" lang="en-US" sz="1100">
                          <a:solidFill>
                            <a:schemeClr val="dk1"/>
                          </a:solidFill>
                        </a:rPr>
                        <a:t> </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2031 Gap (children, + short / - surplus)</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100">
                          <a:solidFill>
                            <a:schemeClr val="dk1"/>
                          </a:solidFill>
                        </a:rPr>
                        <a:t>gap_trend</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r>
              <a:tr h="257175">
                <a:tc>
                  <a:txBody>
                    <a:bodyPr/>
                    <a:lstStyle/>
                    <a:p>
                      <a:pPr indent="0" lvl="0" marL="0" rtl="0" algn="r">
                        <a:lnSpc>
                          <a:spcPct val="115000"/>
                        </a:lnSpc>
                        <a:spcBef>
                          <a:spcPts val="0"/>
                        </a:spcBef>
                        <a:spcAft>
                          <a:spcPts val="0"/>
                        </a:spcAft>
                        <a:buNone/>
                      </a:pPr>
                      <a:r>
                        <a:rPr lang="en-US" sz="1100">
                          <a:solidFill>
                            <a:schemeClr val="dk1"/>
                          </a:solidFill>
                        </a:rPr>
                        <a:t>Woodlands East</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Woodlands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-717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-894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-177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Tampines East</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Tampines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-1906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-2062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-156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Sengkang Town Centre</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Sengkang</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-100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-228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-129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Jurong West Central</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Jurong West</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-217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-306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Punggol Field</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Punggol</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Yunnan</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Jurong West</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-406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-483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-78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Yishun South</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Yishun</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-424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-493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Sembawang Central</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Sembawang</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-266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-332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Yishun West</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Yishun</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-207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-270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Pasir Ris Drive</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Pasir Ris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-526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-588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Peng Siang</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Choa Chu Kang</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-173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Midview</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Woodlands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-369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-426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Fajar</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Bukit Panjang</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-82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-136</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Frankel</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Bedok</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24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-1313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-1365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Simei</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Tampines</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-440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-489</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g3f55c5dc601_0_9"/>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PRIORITIZATION</a:t>
            </a:r>
            <a:endParaRPr/>
          </a:p>
        </p:txBody>
      </p:sp>
      <p:sp>
        <p:nvSpPr>
          <p:cNvPr id="202" name="Google Shape;202;g3f55c5dc601_0_9"/>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Different Outlook when considering Service Type</a:t>
            </a:r>
            <a:endParaRPr b="1" sz="2500">
              <a:solidFill>
                <a:srgbClr val="222222"/>
              </a:solidFill>
            </a:endParaRPr>
          </a:p>
        </p:txBody>
      </p:sp>
      <p:cxnSp>
        <p:nvCxnSpPr>
          <p:cNvPr id="203" name="Google Shape;203;g3f55c5dc601_0_9"/>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204" name="Google Shape;204;g3f55c5dc601_0_9"/>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graphicFrame>
        <p:nvGraphicFramePr>
          <p:cNvPr id="205" name="Google Shape;205;g3f55c5dc601_0_9"/>
          <p:cNvGraphicFramePr/>
          <p:nvPr/>
        </p:nvGraphicFramePr>
        <p:xfrm>
          <a:off x="636750" y="2017700"/>
          <a:ext cx="3000000" cy="3000000"/>
        </p:xfrm>
        <a:graphic>
          <a:graphicData uri="http://schemas.openxmlformats.org/drawingml/2006/table">
            <a:tbl>
              <a:tblPr>
                <a:noFill/>
                <a:tableStyleId>{DAC45651-DEE7-4BCD-A208-FBDFB1AD0629}</a:tableStyleId>
              </a:tblPr>
              <a:tblGrid>
                <a:gridCol w="2030875"/>
                <a:gridCol w="1285375"/>
                <a:gridCol w="1015450"/>
                <a:gridCol w="1396325"/>
                <a:gridCol w="1391825"/>
                <a:gridCol w="1484150"/>
                <a:gridCol w="2311400"/>
              </a:tblGrid>
              <a:tr h="257175">
                <a:tc>
                  <a:txBody>
                    <a:bodyPr/>
                    <a:lstStyle/>
                    <a:p>
                      <a:pPr indent="0" lvl="0" marL="0" rtl="0" algn="r">
                        <a:lnSpc>
                          <a:spcPct val="115000"/>
                        </a:lnSpc>
                        <a:spcBef>
                          <a:spcPts val="0"/>
                        </a:spcBef>
                        <a:spcAft>
                          <a:spcPts val="0"/>
                        </a:spcAft>
                        <a:buNone/>
                      </a:pPr>
                      <a:r>
                        <a:rPr b="1" lang="en-US" sz="1050">
                          <a:solidFill>
                            <a:schemeClr val="dk1"/>
                          </a:solidFill>
                        </a:rPr>
                        <a:t>subzone</a:t>
                      </a:r>
                      <a:endParaRPr b="1"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t/>
                      </a:r>
                      <a:endParaRPr>
                        <a:solidFill>
                          <a:schemeClr val="dk1"/>
                        </a:solidFill>
                      </a:endParaRPr>
                    </a:p>
                    <a:p>
                      <a:pPr indent="0" lvl="0" marL="0" rtl="0" algn="r">
                        <a:lnSpc>
                          <a:spcPct val="115000"/>
                        </a:lnSpc>
                        <a:spcBef>
                          <a:spcPts val="0"/>
                        </a:spcBef>
                        <a:spcAft>
                          <a:spcPts val="0"/>
                        </a:spcAft>
                        <a:buNone/>
                      </a:pPr>
                      <a:r>
                        <a:rPr b="1" lang="en-US" sz="1050">
                          <a:solidFill>
                            <a:schemeClr val="dk1"/>
                          </a:solidFill>
                        </a:rPr>
                        <a:t>planning_area</a:t>
                      </a:r>
                      <a:endParaRPr b="1"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Centres Today</a:t>
                      </a:r>
                      <a:r>
                        <a:rPr b="1" lang="en-US" sz="1100">
                          <a:solidFill>
                            <a:schemeClr val="dk1"/>
                          </a:solidFill>
                        </a:rPr>
                        <a:t> </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2026 Gap (children, + short / - surplus)</a:t>
                      </a:r>
                      <a:r>
                        <a:rPr b="1" lang="en-US" sz="1100">
                          <a:solidFill>
                            <a:schemeClr val="dk1"/>
                          </a:solidFill>
                        </a:rPr>
                        <a:t> </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Younger-Band Gap (18mo-4y)</a:t>
                      </a:r>
                      <a:r>
                        <a:rPr b="1" lang="en-US" sz="1100">
                          <a:solidFill>
                            <a:schemeClr val="dk1"/>
                          </a:solidFill>
                        </a:rPr>
                        <a:t> </a:t>
                      </a:r>
                      <a:endParaRPr b="1"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Older-Band Gap (5-6y)</a:t>
                      </a:r>
                      <a:r>
                        <a:rPr b="1" lang="en-US" sz="1100">
                          <a:solidFill>
                            <a:schemeClr val="dk1"/>
                          </a:solidFill>
                        </a:rPr>
                        <a:t> </a:t>
                      </a:r>
                      <a:endParaRPr b="1"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c>
                  <a:txBody>
                    <a:bodyPr/>
                    <a:lstStyle/>
                    <a:p>
                      <a:pPr indent="0" lvl="0" marL="0" rtl="0" algn="r">
                        <a:lnSpc>
                          <a:spcPct val="115000"/>
                        </a:lnSpc>
                        <a:spcBef>
                          <a:spcPts val="0"/>
                        </a:spcBef>
                        <a:spcAft>
                          <a:spcPts val="0"/>
                        </a:spcAft>
                        <a:buNone/>
                      </a:pPr>
                      <a:r>
                        <a:rPr b="1" lang="en-US" sz="1050">
                          <a:solidFill>
                            <a:schemeClr val="dk1"/>
                          </a:solidFill>
                        </a:rPr>
                        <a:t>masked_driver</a:t>
                      </a:r>
                      <a:endParaRPr b="1"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7CCD1"/>
                    </a:solidFill>
                  </a:tcPr>
                </a:tc>
              </a:tr>
              <a:tr h="257175">
                <a:tc>
                  <a:txBody>
                    <a:bodyPr/>
                    <a:lstStyle/>
                    <a:p>
                      <a:pPr indent="0" lvl="0" marL="0" rtl="0" algn="r">
                        <a:lnSpc>
                          <a:spcPct val="115000"/>
                        </a:lnSpc>
                        <a:spcBef>
                          <a:spcPts val="0"/>
                        </a:spcBef>
                        <a:spcAft>
                          <a:spcPts val="0"/>
                        </a:spcAft>
                        <a:buNone/>
                      </a:pPr>
                      <a:r>
                        <a:rPr lang="en-US" sz="1050">
                          <a:solidFill>
                            <a:schemeClr val="dk1"/>
                          </a:solidFill>
                        </a:rPr>
                        <a:t>Bedok North</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Bedok</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27.0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-273.864598</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7.573243</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-39.771174</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Younger (18mo-4y)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Sembawang Central</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Sembawang</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19.0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-266.249063</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1.922918</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-59.838648</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Younger (18mo-4y)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Jurong West Central</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Jurong West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21.0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-216.644383</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-86.898043</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86.920327</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Older (5-6y)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Clementi Central</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Clementi</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6.0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-151.857778</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-114.882633</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46.358188</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Older (5-6y)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Bangkit</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Bukit Panjang</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6.0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-151.681581</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-95.767063</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27.418816</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Older (5-6y)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Townsville</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Ang Mo Kio</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6.0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-126.670791</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-63.538620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3.534495</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Older (5-6y)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Pei Chun</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Toa Payoh</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3.0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-105.666159</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-98.969759</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26.636934</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Older (5-6y)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Sengkang Town Centre</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Sengkang</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24.0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-99.708425</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79.994477</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78.630431</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Both bands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Bukit Batok West</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Bukit Batok</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5.0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-82.148608</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46.461380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-95.276655</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Younger (18mo-4y)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050">
                          <a:solidFill>
                            <a:schemeClr val="dk1"/>
                          </a:solidFill>
                        </a:rPr>
                        <a:t>Fajar</a:t>
                      </a:r>
                      <a:endParaRPr sz="10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Bukit Panjang</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11.0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-81.827110</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54.524109</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-36.351219</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50">
                          <a:solidFill>
                            <a:schemeClr val="dk1"/>
                          </a:solidFill>
                        </a:rPr>
                        <a:t>Younger (18mo-4y) short</a:t>
                      </a:r>
                      <a:endParaRPr sz="10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06" name="Google Shape;206;g3f55c5dc601_0_9"/>
          <p:cNvSpPr txBox="1"/>
          <p:nvPr/>
        </p:nvSpPr>
        <p:spPr>
          <a:xfrm>
            <a:off x="638150" y="1321800"/>
            <a:ext cx="11064300" cy="400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a:solidFill>
                  <a:srgbClr val="222222"/>
                </a:solidFill>
              </a:rPr>
              <a:t>Blind spot: </a:t>
            </a:r>
            <a:r>
              <a:rPr lang="en-US">
                <a:solidFill>
                  <a:srgbClr val="222222"/>
                </a:solidFill>
              </a:rPr>
              <a:t>Every number so far assumes "1 centre = 100 kids, full 18mo-6y range."</a:t>
            </a:r>
            <a:endParaRPr>
              <a:solidFill>
                <a:srgbClr val="22222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g3f5588f5b17_0_316"/>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FORWARD LOOKING</a:t>
            </a:r>
            <a:endParaRPr/>
          </a:p>
        </p:txBody>
      </p:sp>
      <p:sp>
        <p:nvSpPr>
          <p:cNvPr id="212" name="Google Shape;212;g3f5588f5b17_0_316"/>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Deficiency Roadmap Map</a:t>
            </a:r>
            <a:endParaRPr b="1" sz="2500">
              <a:solidFill>
                <a:srgbClr val="222222"/>
              </a:solidFill>
            </a:endParaRPr>
          </a:p>
        </p:txBody>
      </p:sp>
      <p:cxnSp>
        <p:nvCxnSpPr>
          <p:cNvPr id="213" name="Google Shape;213;g3f5588f5b17_0_316"/>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214" name="Google Shape;214;g3f5588f5b17_0_316"/>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215" name="Google Shape;215;g3f5588f5b17_0_316"/>
          <p:cNvSpPr txBox="1"/>
          <p:nvPr/>
        </p:nvSpPr>
        <p:spPr>
          <a:xfrm>
            <a:off x="7156650" y="1875800"/>
            <a:ext cx="4420200" cy="171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100">
                <a:solidFill>
                  <a:schemeClr val="dk1"/>
                </a:solidFill>
              </a:rPr>
              <a:t>What the map shows:</a:t>
            </a:r>
            <a:r>
              <a:rPr lang="en-US" sz="1100">
                <a:solidFill>
                  <a:schemeClr val="dk1"/>
                </a:solidFill>
              </a:rPr>
              <a:t> The darkest red areas represent subzones already facing childcare shortages today, concentrated across both mature estates and newer towns undergoing significant BTO development. Over time, additional BTO clusters gradually transition into deficit as new housing is completed and occupied. In contrast, the blue areas remain comfortably served throughout the forecast period, making them the strongest candidates for future capacity relocation rather than new centre construction. </a:t>
            </a:r>
            <a:endParaRPr/>
          </a:p>
        </p:txBody>
      </p:sp>
      <p:pic>
        <p:nvPicPr>
          <p:cNvPr id="216" name="Google Shape;216;g3f5588f5b17_0_316" title="09_first_deficit_year_roadmap.png"/>
          <p:cNvPicPr preferRelativeResize="0"/>
          <p:nvPr/>
        </p:nvPicPr>
        <p:blipFill>
          <a:blip r:embed="rId3">
            <a:alphaModFix/>
          </a:blip>
          <a:stretch>
            <a:fillRect/>
          </a:stretch>
        </p:blipFill>
        <p:spPr>
          <a:xfrm>
            <a:off x="492925" y="1478217"/>
            <a:ext cx="6379949" cy="4346499"/>
          </a:xfrm>
          <a:prstGeom prst="rect">
            <a:avLst/>
          </a:prstGeom>
          <a:noFill/>
          <a:ln>
            <a:noFill/>
          </a:ln>
        </p:spPr>
      </p:pic>
      <p:sp>
        <p:nvSpPr>
          <p:cNvPr id="217" name="Google Shape;217;g3f5588f5b17_0_316"/>
          <p:cNvSpPr txBox="1"/>
          <p:nvPr/>
        </p:nvSpPr>
        <p:spPr>
          <a:xfrm>
            <a:off x="9193775" y="6099250"/>
            <a:ext cx="2878800" cy="307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None/>
            </a:pPr>
            <a:r>
              <a:rPr lang="en-US" sz="800">
                <a:solidFill>
                  <a:schemeClr val="dk1"/>
                </a:solidFill>
              </a:rPr>
              <a:t>Refer to codebase for </a:t>
            </a:r>
            <a:r>
              <a:rPr lang="en-US" sz="800">
                <a:solidFill>
                  <a:schemeClr val="dk1"/>
                </a:solidFill>
              </a:rPr>
              <a:t>robustness</a:t>
            </a:r>
            <a:r>
              <a:rPr lang="en-US" sz="800">
                <a:solidFill>
                  <a:schemeClr val="dk1"/>
                </a:solidFill>
              </a:rPr>
              <a:t> check</a:t>
            </a:r>
            <a:endParaRPr i="1" sz="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g3f5588f5b17_0_328"/>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TOOLING</a:t>
            </a:r>
            <a:endParaRPr/>
          </a:p>
        </p:txBody>
      </p:sp>
      <p:sp>
        <p:nvSpPr>
          <p:cNvPr id="223" name="Google Shape;223;g3f5588f5b17_0_328"/>
          <p:cNvSpPr txBox="1"/>
          <p:nvPr/>
        </p:nvSpPr>
        <p:spPr>
          <a:xfrm>
            <a:off x="548640" y="621792"/>
            <a:ext cx="110643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500">
                <a:solidFill>
                  <a:srgbClr val="222222"/>
                </a:solidFill>
              </a:rPr>
              <a:t>Forecast Tools</a:t>
            </a:r>
            <a:endParaRPr b="1" sz="2500">
              <a:solidFill>
                <a:srgbClr val="222222"/>
              </a:solidFill>
            </a:endParaRPr>
          </a:p>
        </p:txBody>
      </p:sp>
      <p:cxnSp>
        <p:nvCxnSpPr>
          <p:cNvPr id="224" name="Google Shape;224;g3f5588f5b17_0_328"/>
          <p:cNvCxnSpPr/>
          <p:nvPr/>
        </p:nvCxnSpPr>
        <p:spPr>
          <a:xfrm>
            <a:off x="548640" y="1210306"/>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225" name="Google Shape;225;g3f5588f5b17_0_328"/>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226" name="Google Shape;226;g3f5588f5b17_0_328"/>
          <p:cNvPicPr preferRelativeResize="0"/>
          <p:nvPr/>
        </p:nvPicPr>
        <p:blipFill>
          <a:blip r:embed="rId3">
            <a:alphaModFix/>
          </a:blip>
          <a:stretch>
            <a:fillRect/>
          </a:stretch>
        </p:blipFill>
        <p:spPr>
          <a:xfrm>
            <a:off x="243475" y="1397513"/>
            <a:ext cx="5267702" cy="3001649"/>
          </a:xfrm>
          <a:prstGeom prst="rect">
            <a:avLst/>
          </a:prstGeom>
          <a:noFill/>
          <a:ln>
            <a:noFill/>
          </a:ln>
        </p:spPr>
      </p:pic>
      <p:pic>
        <p:nvPicPr>
          <p:cNvPr id="227" name="Google Shape;227;g3f5588f5b17_0_328"/>
          <p:cNvPicPr preferRelativeResize="0"/>
          <p:nvPr/>
        </p:nvPicPr>
        <p:blipFill>
          <a:blip r:embed="rId4">
            <a:alphaModFix/>
          </a:blip>
          <a:stretch>
            <a:fillRect/>
          </a:stretch>
        </p:blipFill>
        <p:spPr>
          <a:xfrm>
            <a:off x="5896650" y="1397525"/>
            <a:ext cx="5875374" cy="2662274"/>
          </a:xfrm>
          <a:prstGeom prst="rect">
            <a:avLst/>
          </a:prstGeom>
          <a:noFill/>
          <a:ln>
            <a:noFill/>
          </a:ln>
        </p:spPr>
      </p:pic>
      <p:sp>
        <p:nvSpPr>
          <p:cNvPr id="228" name="Google Shape;228;g3f5588f5b17_0_328"/>
          <p:cNvSpPr txBox="1"/>
          <p:nvPr/>
        </p:nvSpPr>
        <p:spPr>
          <a:xfrm>
            <a:off x="1553200" y="4616250"/>
            <a:ext cx="9276900" cy="1200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b="1" lang="en-US" sz="1100">
                <a:solidFill>
                  <a:schemeClr val="dk1"/>
                </a:solidFill>
              </a:rPr>
              <a:t>Live demand–supply forecasting:</a:t>
            </a:r>
            <a:r>
              <a:rPr lang="en-US" sz="1100">
                <a:solidFill>
                  <a:schemeClr val="dk1"/>
                </a:solidFill>
              </a:rPr>
              <a:t> Instantly recalculates childcare gaps as assumptions (e.g. BTO child yield and participation rate) are adjusted, updating maps, KPIs, priority rankings, and charts in real time.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US" sz="1100">
                <a:solidFill>
                  <a:schemeClr val="dk1"/>
                </a:solidFill>
              </a:rPr>
              <a:t>Interactive scenario analysis:</a:t>
            </a:r>
            <a:r>
              <a:rPr lang="en-US" sz="1100">
                <a:solidFill>
                  <a:schemeClr val="dk1"/>
                </a:solidFill>
              </a:rPr>
              <a:t> Supports multiple map views (gap magnitude by forecast year or first year in deficit) and exports the resulting gap tables under the selected assumptions.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US" sz="1100">
                <a:solidFill>
                  <a:schemeClr val="dk1"/>
                </a:solidFill>
              </a:rPr>
              <a:t>Data refresh capability:</a:t>
            </a:r>
            <a:r>
              <a:rPr lang="en-US" sz="1100">
                <a:solidFill>
                  <a:schemeClr val="dk1"/>
                </a:solidFill>
              </a:rPr>
              <a:t> Allows users to upload updated population, BTO, or childcare centre datasets, with automatic recalculation and efficient re-geocoding of new centres.</a:t>
            </a:r>
            <a:endParaRPr sz="1100">
              <a:solidFill>
                <a:schemeClr val="dk1"/>
              </a:solidFill>
            </a:endParaRPr>
          </a:p>
        </p:txBody>
      </p:sp>
      <p:sp>
        <p:nvSpPr>
          <p:cNvPr id="229" name="Google Shape;229;g3f5588f5b17_0_328"/>
          <p:cNvSpPr txBox="1"/>
          <p:nvPr/>
        </p:nvSpPr>
        <p:spPr>
          <a:xfrm>
            <a:off x="9193775" y="6099250"/>
            <a:ext cx="28788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800">
                <a:solidFill>
                  <a:schemeClr val="dk1"/>
                </a:solidFill>
              </a:rPr>
              <a:t>How to run it:</a:t>
            </a:r>
            <a:endParaRPr sz="800">
              <a:solidFill>
                <a:schemeClr val="dk1"/>
              </a:solidFill>
            </a:endParaRPr>
          </a:p>
          <a:p>
            <a:pPr indent="0" lvl="0" marL="457200" marR="0" rtl="0" algn="l">
              <a:lnSpc>
                <a:spcPct val="100000"/>
              </a:lnSpc>
              <a:spcBef>
                <a:spcPts val="0"/>
              </a:spcBef>
              <a:spcAft>
                <a:spcPts val="0"/>
              </a:spcAft>
              <a:buNone/>
            </a:pPr>
            <a:r>
              <a:rPr lang="en-US" sz="800">
                <a:solidFill>
                  <a:schemeClr val="dk1"/>
                </a:solidFill>
              </a:rPr>
              <a:t>From the section-2-case-study/codes/tool folder:</a:t>
            </a:r>
            <a:endParaRPr sz="800">
              <a:solidFill>
                <a:schemeClr val="dk1"/>
              </a:solidFill>
            </a:endParaRPr>
          </a:p>
          <a:p>
            <a:pPr indent="0" lvl="0" marL="457200" marR="0" rtl="0" algn="l">
              <a:lnSpc>
                <a:spcPct val="100000"/>
              </a:lnSpc>
              <a:spcBef>
                <a:spcPts val="0"/>
              </a:spcBef>
              <a:spcAft>
                <a:spcPts val="0"/>
              </a:spcAft>
              <a:buNone/>
            </a:pPr>
            <a:r>
              <a:rPr i="1" lang="en-US" sz="800">
                <a:solidFill>
                  <a:schemeClr val="dk1"/>
                </a:solidFill>
              </a:rPr>
              <a:t>pip install -r requirements.txt</a:t>
            </a:r>
            <a:endParaRPr i="1" sz="800">
              <a:solidFill>
                <a:schemeClr val="dk1"/>
              </a:solidFill>
            </a:endParaRPr>
          </a:p>
          <a:p>
            <a:pPr indent="0" lvl="0" marL="457200" marR="0" rtl="0" algn="l">
              <a:lnSpc>
                <a:spcPct val="100000"/>
              </a:lnSpc>
              <a:spcBef>
                <a:spcPts val="0"/>
              </a:spcBef>
              <a:spcAft>
                <a:spcPts val="0"/>
              </a:spcAft>
              <a:buNone/>
            </a:pPr>
            <a:r>
              <a:rPr i="1" lang="en-US" sz="800">
                <a:solidFill>
                  <a:schemeClr val="dk1"/>
                </a:solidFill>
              </a:rPr>
              <a:t>streamlit run app.py</a:t>
            </a:r>
            <a:endParaRPr i="1" sz="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